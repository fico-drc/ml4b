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B68269-12FB-4EBB-8DDF-50096A901647}" v="2" dt="2026-05-29T12:11:26.0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2" y="18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n L." userId="b2e83f797f0ea9ad" providerId="LiveId" clId="{25607F44-E89C-4F57-AC5D-72A725DC4D85}"/>
    <pc:docChg chg="modSld">
      <pc:chgData name="Yann L." userId="b2e83f797f0ea9ad" providerId="LiveId" clId="{25607F44-E89C-4F57-AC5D-72A725DC4D85}" dt="2026-05-29T12:11:36.124" v="8" actId="20577"/>
      <pc:docMkLst>
        <pc:docMk/>
      </pc:docMkLst>
      <pc:sldChg chg="modSp mod">
        <pc:chgData name="Yann L." userId="b2e83f797f0ea9ad" providerId="LiveId" clId="{25607F44-E89C-4F57-AC5D-72A725DC4D85}" dt="2026-05-29T12:10:53.963" v="0" actId="113"/>
        <pc:sldMkLst>
          <pc:docMk/>
          <pc:sldMk cId="0" sldId="257"/>
        </pc:sldMkLst>
        <pc:spChg chg="mod">
          <ac:chgData name="Yann L." userId="b2e83f797f0ea9ad" providerId="LiveId" clId="{25607F44-E89C-4F57-AC5D-72A725DC4D85}" dt="2026-05-29T12:10:53.963" v="0" actId="113"/>
          <ac:spMkLst>
            <pc:docMk/>
            <pc:sldMk cId="0" sldId="257"/>
            <ac:spMk id="12" creationId="{00000000-0000-0000-0000-000000000000}"/>
          </ac:spMkLst>
        </pc:spChg>
      </pc:sldChg>
      <pc:sldChg chg="modSp mod">
        <pc:chgData name="Yann L." userId="b2e83f797f0ea9ad" providerId="LiveId" clId="{25607F44-E89C-4F57-AC5D-72A725DC4D85}" dt="2026-05-29T12:11:36.124" v="8" actId="20577"/>
        <pc:sldMkLst>
          <pc:docMk/>
          <pc:sldMk cId="0" sldId="259"/>
        </pc:sldMkLst>
        <pc:spChg chg="mod">
          <ac:chgData name="Yann L." userId="b2e83f797f0ea9ad" providerId="LiveId" clId="{25607F44-E89C-4F57-AC5D-72A725DC4D85}" dt="2026-05-29T12:11:36.124" v="8" actId="20577"/>
          <ac:spMkLst>
            <pc:docMk/>
            <pc:sldMk cId="0" sldId="259"/>
            <ac:spMk id="6" creationId="{00000000-0000-0000-0000-000000000000}"/>
          </ac:spMkLst>
        </pc:spChg>
        <pc:spChg chg="mod">
          <ac:chgData name="Yann L." userId="b2e83f797f0ea9ad" providerId="LiveId" clId="{25607F44-E89C-4F57-AC5D-72A725DC4D85}" dt="2026-05-29T12:11:28.587" v="2"/>
          <ac:spMkLst>
            <pc:docMk/>
            <pc:sldMk cId="0" sldId="259"/>
            <ac:spMk id="10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9704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FF4A"/>
          </a:solidFill>
          <a:ln w="12700">
            <a:solidFill>
              <a:srgbClr val="E8FF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7772400" y="228600"/>
            <a:ext cx="1097280" cy="411480"/>
          </a:xfrm>
          <a:prstGeom prst="rect">
            <a:avLst/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7772400" y="2286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F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ML4B SoSe 2026  ·  FAU Erlangen-Nürnberg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Bewegungsklassifikation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02920" y="21214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E8F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Smartphone-Sensordaten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02920" y="2926080"/>
            <a:ext cx="5943600" cy="27432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02920" y="3063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 NoNames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Klassen  ·  3 Sensoren  ·  47 Sessions  ·  3.621 Fenster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4160520"/>
            <a:ext cx="662940" cy="292608"/>
          </a:xfrm>
          <a:prstGeom prst="rect">
            <a:avLst/>
          </a:prstGeom>
          <a:solidFill>
            <a:srgbClr val="4CAF50">
              <a:alpha val="25000"/>
            </a:srgbClr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502920" y="4160520"/>
            <a:ext cx="662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Gehen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275588" y="4160520"/>
            <a:ext cx="740664" cy="292608"/>
          </a:xfrm>
          <a:prstGeom prst="rect">
            <a:avLst/>
          </a:prstGeom>
          <a:solidFill>
            <a:srgbClr val="2196F3">
              <a:alpha val="25000"/>
            </a:srgbClr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1275588" y="4160520"/>
            <a:ext cx="740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Laufen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25980" y="4160520"/>
            <a:ext cx="740664" cy="292608"/>
          </a:xfrm>
          <a:prstGeom prst="rect">
            <a:avLst/>
          </a:prstGeom>
          <a:solidFill>
            <a:srgbClr val="9C27B0">
              <a:alpha val="25000"/>
            </a:srgbClr>
          </a:solidFill>
          <a:ln w="12700">
            <a:solidFill>
              <a:srgbClr val="9C27B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2125980" y="4160520"/>
            <a:ext cx="740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Liegen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976372" y="4160520"/>
            <a:ext cx="740664" cy="292608"/>
          </a:xfrm>
          <a:prstGeom prst="rect">
            <a:avLst/>
          </a:prstGeom>
          <a:solidFill>
            <a:srgbClr val="FF9800">
              <a:alpha val="25000"/>
            </a:srgbClr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2976372" y="4160520"/>
            <a:ext cx="740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Stehen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26764" y="4160520"/>
            <a:ext cx="1129284" cy="292608"/>
          </a:xfrm>
          <a:prstGeom prst="rect">
            <a:avLst/>
          </a:prstGeom>
          <a:solidFill>
            <a:srgbClr val="F44336">
              <a:alpha val="25000"/>
            </a:srgbClr>
          </a:solidFill>
          <a:ln w="12700">
            <a:solidFill>
              <a:srgbClr val="F4433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3826764" y="4160520"/>
            <a:ext cx="11292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Treppe hoch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65776" y="4160520"/>
            <a:ext cx="1284732" cy="292608"/>
          </a:xfrm>
          <a:prstGeom prst="rect">
            <a:avLst/>
          </a:prstGeom>
          <a:solidFill>
            <a:srgbClr val="00BCD4">
              <a:alpha val="25000"/>
            </a:srgbClr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5065776" y="4160520"/>
            <a:ext cx="12847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Treppe runter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FF4A"/>
          </a:solidFill>
          <a:ln w="12700">
            <a:solidFill>
              <a:srgbClr val="E8FF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84048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Framing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4048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Worum geht es?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" y="1371600"/>
            <a:ext cx="3840480" cy="3200400"/>
          </a:xfrm>
          <a:prstGeom prst="rect">
            <a:avLst/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84048" y="1371600"/>
            <a:ext cx="3840480" cy="45720"/>
          </a:xfrm>
          <a:prstGeom prst="rect">
            <a:avLst/>
          </a:prstGeom>
          <a:solidFill>
            <a:srgbClr val="E8FF4A"/>
          </a:solidFill>
          <a:ln w="12700">
            <a:solidFill>
              <a:srgbClr val="E8FF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F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 und Fitness-Geräte benötigen Aktivitätserkennung – aber ressourcenbeschränkte Geräte wie Armbänder können keine komplexen Modelle ausführen.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Fragestellung: Wie genau lassen sich Bewegungsklassen aus Smartphone-Sensordaten klassifizieren, wenn das Gerät in der Hosentasche getragen wird?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80560" y="1371600"/>
            <a:ext cx="4297680" cy="3200400"/>
          </a:xfrm>
          <a:prstGeom prst="rect">
            <a:avLst/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4480560" y="1371600"/>
            <a:ext cx="4297680" cy="457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4617720" y="14447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Ansatz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1874520"/>
            <a:ext cx="4023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Datenerhebung mit Sensor Logger App</a:t>
            </a:r>
            <a:endParaRPr lang="en-US" sz="1150" dirty="0"/>
          </a:p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Sensoren: </a:t>
            </a:r>
            <a:r>
              <a:rPr lang="en-US" sz="115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Accelerometer, Gyroscope, Orientation</a:t>
            </a:r>
            <a:endParaRPr lang="en-US" sz="1150" b="1" dirty="0"/>
          </a:p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Sliding-Window Feature-Extraktion (2s, 81 Features)</a:t>
            </a:r>
            <a:endParaRPr lang="en-US" sz="1150" dirty="0"/>
          </a:p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 von 7 Klassifikatoren</a:t>
            </a:r>
            <a:endParaRPr lang="en-US" sz="1150" dirty="0"/>
          </a:p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Session-basierter Split (kein Data Leakage)</a:t>
            </a:r>
            <a:endParaRPr lang="en-US" sz="1150" dirty="0"/>
          </a:p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Streamlit-App zur Demonstration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FF4A"/>
          </a:solidFill>
          <a:ln w="12700">
            <a:solidFill>
              <a:srgbClr val="E8FF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84048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Vorgehensweise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4048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Prozess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" y="1417320"/>
            <a:ext cx="2697480" cy="1508760"/>
          </a:xfrm>
          <a:prstGeom prst="rect">
            <a:avLst/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84048" y="1417320"/>
            <a:ext cx="64008" cy="1508760"/>
          </a:xfrm>
          <a:prstGeom prst="rect">
            <a:avLst/>
          </a:prstGeom>
          <a:solidFill>
            <a:srgbClr val="E8FF4A"/>
          </a:solidFill>
          <a:ln w="12700">
            <a:solidFill>
              <a:srgbClr val="E8FF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21208" y="150876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E8F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21208" y="18928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1208" y="22585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Forschungsfrage &amp; Zielsystem definiert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417320"/>
            <a:ext cx="2697480" cy="1508760"/>
          </a:xfrm>
          <a:prstGeom prst="rect">
            <a:avLst/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3291840" y="1417320"/>
            <a:ext cx="64008" cy="150876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3429000" y="150876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96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29000" y="18928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22585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Sessions, 6 Klassen, Signalanalyse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99632" y="1417320"/>
            <a:ext cx="2697480" cy="1508760"/>
          </a:xfrm>
          <a:prstGeom prst="rect">
            <a:avLst/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6199632" y="1417320"/>
            <a:ext cx="64008" cy="150876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6336792" y="150876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36792" y="189280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36792" y="22585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Resampling, Trim, 81 Features, session-Split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3108960"/>
            <a:ext cx="2697480" cy="1508760"/>
          </a:xfrm>
          <a:prstGeom prst="rect">
            <a:avLst/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384048" y="3108960"/>
            <a:ext cx="64008" cy="150876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521208" y="32004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21208" y="35844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" y="39502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Klassifikatoren, GroupKFold CV, Tuning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3108960"/>
            <a:ext cx="2697480" cy="1508760"/>
          </a:xfrm>
          <a:prstGeom prst="rect">
            <a:avLst/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Shape 24"/>
          <p:cNvSpPr/>
          <p:nvPr/>
        </p:nvSpPr>
        <p:spPr>
          <a:xfrm>
            <a:off x="3291840" y="3108960"/>
            <a:ext cx="64008" cy="150876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3429000" y="32004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443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429000" y="35844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29000" y="39502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+ Mixed-Evaluation + Bias-Analyse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99632" y="3108960"/>
            <a:ext cx="2697480" cy="1508760"/>
          </a:xfrm>
          <a:prstGeom prst="rect">
            <a:avLst/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Shape 29"/>
          <p:cNvSpPr/>
          <p:nvPr/>
        </p:nvSpPr>
        <p:spPr>
          <a:xfrm>
            <a:off x="6199632" y="3108960"/>
            <a:ext cx="64008" cy="15087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6336792" y="320040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336792" y="35844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36792" y="39502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Streamlit-App mit Live-Klassifikation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FF4A"/>
          </a:solidFill>
          <a:ln w="12700">
            <a:solidFill>
              <a:srgbClr val="E8FF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84048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Ergebnisse &amp; Besonderheiten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4048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haben wir gelernt?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" y="1371600"/>
            <a:ext cx="1965960" cy="1097280"/>
          </a:xfrm>
          <a:prstGeom prst="rect">
            <a:avLst/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84048" y="144475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F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0.84</a:t>
            </a:r>
          </a:p>
        </p:txBody>
      </p:sp>
      <p:sp>
        <p:nvSpPr>
          <p:cNvPr id="7" name="Text 5"/>
          <p:cNvSpPr/>
          <p:nvPr/>
        </p:nvSpPr>
        <p:spPr>
          <a:xfrm>
            <a:off x="384048" y="19659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F1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222199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3-fold GroupKFold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32888" y="1371600"/>
            <a:ext cx="1965960" cy="1097280"/>
          </a:xfrm>
          <a:prstGeom prst="rect">
            <a:avLst/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2532888" y="144475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196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32888" y="19659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32888" y="222199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Train+Val CV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81728" y="1371600"/>
            <a:ext cx="1965960" cy="1097280"/>
          </a:xfrm>
          <a:prstGeom prst="rect">
            <a:avLst/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681728" y="144475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81728" y="19659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81728" y="222199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Klassen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30568" y="1371600"/>
            <a:ext cx="1965960" cy="1097280"/>
          </a:xfrm>
          <a:prstGeom prst="rect">
            <a:avLst/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6830568" y="144475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81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30568" y="196596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30568" y="222199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Fenster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84048" y="2651760"/>
            <a:ext cx="4023360" cy="960120"/>
          </a:xfrm>
          <a:prstGeom prst="rect">
            <a:avLst/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93776" y="27249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8F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behoben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3776" y="30175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Zufälliger Fensterschnitt erzeugte CV F1 ~0.99 durch 50% Überlappung. Lösung: session-basierter GroupShuffleSplit.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84048" y="3749040"/>
            <a:ext cx="4023360" cy="960120"/>
          </a:xfrm>
          <a:prstGeom prst="rect">
            <a:avLst/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493776" y="3822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8F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Orientierungs-Bias identifiziert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3776" y="41148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orie_pitch_energy ist wichtigstes Feature – positionsabhängig. Andere Trageweisen nicht abgedeckt.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2651760"/>
            <a:ext cx="4023360" cy="960120"/>
          </a:xfrm>
          <a:prstGeom prst="rect">
            <a:avLst/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4773168" y="27249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8F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Sampling-Rate-Mismatch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73168" y="30175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Hz vs. 100 Hz Geräte. Lösung: Resampling auf 61 Hz vor Windowing, FFT-Frequenz dynamisch berechnet.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3749040"/>
            <a:ext cx="4023360" cy="960120"/>
          </a:xfrm>
          <a:prstGeom prst="rect">
            <a:avLst/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4773168" y="3822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8F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Gehen vs. Treppe runter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73168" y="41148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Hauptverwechslungspaar. FFT-Dominanzfrequenz und Orientierungs-Delta als neue Features hinzugefügt.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FF4A"/>
          </a:solidFill>
          <a:ln w="12700">
            <a:solidFill>
              <a:srgbClr val="E8FF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384048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Limitierungen &amp; Ausblick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84048" y="548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Einschränkungen &amp; nächste Schritte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84048" y="1353312"/>
            <a:ext cx="1965960" cy="1463040"/>
          </a:xfrm>
          <a:prstGeom prst="rect">
            <a:avLst/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84048" y="1353312"/>
            <a:ext cx="1965960" cy="54864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475488" y="14264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Personenbias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" y="1737360"/>
            <a:ext cx="594360" cy="201168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75488" y="17373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0D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HOCH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75488" y="2011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Probanden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 lernt individuelle Gangmuster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32888" y="1353312"/>
            <a:ext cx="1965960" cy="1463040"/>
          </a:xfrm>
          <a:prstGeom prst="rect">
            <a:avLst/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2532888" y="1353312"/>
            <a:ext cx="1965960" cy="54864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2624328" y="14264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Positionsbias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24328" y="1737360"/>
            <a:ext cx="594360" cy="201168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2624328" y="17373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0D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HOCH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624328" y="2011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rechte Hosentasche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Andere Trageweisen nicht validiert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81728" y="1353312"/>
            <a:ext cx="1965960" cy="1463040"/>
          </a:xfrm>
          <a:prstGeom prst="rect">
            <a:avLst/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4681728" y="1353312"/>
            <a:ext cx="1965960" cy="54864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4773168" y="14264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Klassenungleich.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73168" y="1737360"/>
            <a:ext cx="594360" cy="20116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4773168" y="17373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0D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MITTEL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773168" y="2011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Treppe: ~40% weniger Fenster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 angewendet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30568" y="1353312"/>
            <a:ext cx="1965960" cy="1463040"/>
          </a:xfrm>
          <a:prstGeom prst="rect">
            <a:avLst/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6830568" y="1353312"/>
            <a:ext cx="1965960" cy="54864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6922008" y="14264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Gerätebias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22008" y="1737360"/>
            <a:ext cx="594360" cy="20116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6922008" y="17373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0D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MITTEL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922008" y="20116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Hz vs. 100 Hz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Durch Resampling reduziert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84048" y="3017520"/>
            <a:ext cx="8375904" cy="27432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384048" y="3127248"/>
            <a:ext cx="8375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F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Weiterer Forschungsbedarf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4048" y="3520440"/>
            <a:ext cx="83759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Datensatz mit &gt;20 Probanden und diverseren Demographien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unter verschiedenen Trageweisen und Gerätepositionen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Vergleich mit Deep-Learning-Ansätzen (CNN, LSTM) auf demselben session-basierten Split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Systematische SHAP-gestützte Feature-Reduktion für ressourcenbeschränkte Geräte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358</Words>
  <Application>Microsoft Office PowerPoint</Application>
  <PresentationFormat>Bildschirmpräsentation (16:9)</PresentationFormat>
  <Paragraphs>95</Paragraphs>
  <Slides>5</Slides>
  <Notes>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Calibri</vt:lpstr>
      <vt:lpstr>Consolas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NoNames – Bewegungsklassifikation</dc:title>
  <dc:subject>PptxGenJS Presentation</dc:subject>
  <dc:creator>PptxGenJS</dc:creator>
  <cp:lastModifiedBy>Yann L.</cp:lastModifiedBy>
  <cp:revision>1</cp:revision>
  <dcterms:created xsi:type="dcterms:W3CDTF">2026-05-29T12:07:54Z</dcterms:created>
  <dcterms:modified xsi:type="dcterms:W3CDTF">2026-05-29T12:11:38Z</dcterms:modified>
</cp:coreProperties>
</file>