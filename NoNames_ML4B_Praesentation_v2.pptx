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78" r:id="rId5"/>
    <p:sldId id="273" r:id="rId6"/>
    <p:sldId id="282" r:id="rId7"/>
    <p:sldId id="279" r:id="rId8"/>
    <p:sldId id="283" r:id="rId9"/>
    <p:sldId id="285" r:id="rId10"/>
    <p:sldId id="256" r:id="rId11"/>
    <p:sldId id="257" r:id="rId12"/>
    <p:sldId id="258" r:id="rId13"/>
    <p:sldId id="275" r:id="rId14"/>
    <p:sldId id="263" r:id="rId15"/>
    <p:sldId id="259" r:id="rId16"/>
    <p:sldId id="26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036AD8-01C9-B4E4-4A71-DCA8FE2DC0B2}" v="24" dt="2026-06-25T12:00:58.539"/>
    <p1510:client id="{56985094-012C-0443-8380-ABA051B76A37}" v="889" dt="2026-06-25T11:21:39.840"/>
    <p1510:client id="{6E0C71B9-70FB-444B-8D65-873D0C7BAF3C}" v="1" dt="2026-06-25T09:47:29.137"/>
    <p1510:client id="{E65B0F52-49C5-4346-B6C3-204FAA14FA23}" v="6" dt="2026-06-25T09:47:01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8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KPIs: CV-F1 0.84 ist die primaere Metrik (GroupKFold), Test 0.91 ist optimistisch wegen des kleinen Test-Sets. Konfusionsmatrix: Gehen und Treppe sind das Hauptverwechslungspaar. Dann auf den Screencast ueberleiten. Drei Begriffe unten kurz erklaeren.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Drei Erkenntnisse, dann Limitierungen benennen (Personen- und Positionsbias HOCH). Mixed-Evaluation auf gemischten Sequenzen: Weighted F1 0.80, Liegen 0.00 wegen kurzer Uebergaenge. Ausblick-Stichworte, dann Schluss.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Kurz einordnen: Klassifikation von 6 Alltagsaktivitaeten aus Smartphone-Sensordaten (Accelerometer, Gyroscope, Orientation), eigener Datensatz mit 47 Sessions. Signalplot zeigt: die Klassen unterscheiden sich schon im Rohsignal.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Kurz: Problem (ressourcenbeschraenkte Geraete), Ziel (6 Aktivitaeten aus Hosentaschen-Smartphone), Loesung (statistische Features, Gradient Boosting). Anwendungsfelder nennen. Sensorsetup kurz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Pipeline links nach rechts durchgehen. Wichtigster Punkt: die Iterations-Schleife unten - wir mussten wegen Data Leakage auf einen session-basierten Split umstellen. Modellvergleich: Gradient Boosting gewinnt knapp.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Pipeline links nach rechts durchgehen. Wichtigster Punkt: die Iterations-Schleife unten - wir mussten wegen Data Leakage auf einen session-basierten Split umstellen. Modellvergleich: Gradient Boosting gewinnt knapp.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KPIs: CV-F1 0.84 ist die primaere Metrik (GroupKFold), Test 0.91 ist optimistisch wegen des kleinen Test-Sets. Konfusionsmatrix: Gehen und Treppe sind das Hauptverwechslungspaar. Dann auf den Screencast ueberleiten. Drei Begriffe unten kurz erklaeren.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Drei Erkenntnisse, dann Limitierungen benennen (Personen- und Positionsbias HOCH). Mixed-Evaluation auf gemischten Sequenzen: Weighted F1 0.80, Liegen 0.00 wegen kurzer Uebergaenge. Ausblick-Stichworte, dann Schluss.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p301"/>
          <p:cNvSpPr/>
          <p:nvPr/>
        </p:nvSpPr>
        <p:spPr>
          <a:xfrm>
            <a:off x="914400" y="685800"/>
            <a:ext cx="10363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400" spc="160">
                <a:solidFill>
                  <a:srgbClr val="2C5468"/>
                </a:solidFill>
                <a:latin typeface="Consolas"/>
                <a:cs typeface="Consolas"/>
              </a:rPr>
              <a:t>ML4B · SoSe 2026 · FAU ERLANGEN-NÜRNBERG · Projekt von NONAMES</a:t>
            </a:r>
          </a:p>
        </p:txBody>
      </p:sp>
      <p:sp>
        <p:nvSpPr>
          <p:cNvPr id="302" name="sp302"/>
          <p:cNvSpPr/>
          <p:nvPr/>
        </p:nvSpPr>
        <p:spPr>
          <a:xfrm>
            <a:off x="914400" y="1041400"/>
            <a:ext cx="10363200" cy="17780"/>
          </a:xfrm>
          <a:prstGeom prst="rect">
            <a:avLst/>
          </a:prstGeom>
          <a:solidFill>
            <a:srgbClr val="CBC4B6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303" name="sp303"/>
          <p:cNvSpPr/>
          <p:nvPr/>
        </p:nvSpPr>
        <p:spPr>
          <a:xfrm>
            <a:off x="914400" y="1270000"/>
            <a:ext cx="5334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3400"/>
              </a:lnSpc>
              <a:buNone/>
            </a:pPr>
            <a:r>
              <a:rPr lang="de-DE" sz="3000" b="1">
                <a:solidFill>
                  <a:srgbClr val="23282E"/>
                </a:solidFill>
                <a:latin typeface="Georgia"/>
                <a:cs typeface="Georgia"/>
              </a:rPr>
              <a:t>Bewegungsklassifikation aus Smartphone-Sensordaten</a:t>
            </a:r>
          </a:p>
        </p:txBody>
      </p:sp>
      <p:sp>
        <p:nvSpPr>
          <p:cNvPr id="304" name="sp304"/>
          <p:cNvSpPr/>
          <p:nvPr/>
        </p:nvSpPr>
        <p:spPr>
          <a:xfrm>
            <a:off x="914400" y="2735580"/>
            <a:ext cx="5334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2000"/>
              </a:lnSpc>
              <a:buNone/>
            </a:pPr>
            <a:r>
              <a:rPr lang="de-DE" sz="1500" i="1">
                <a:solidFill>
                  <a:srgbClr val="2C5468"/>
                </a:solidFill>
                <a:latin typeface="Georgia"/>
                <a:cs typeface="Georgia"/>
              </a:rPr>
              <a:t>Kann ein Handy in der Hosentasche erkennen, ob du gehst, läufst oder Treppen steigst?</a:t>
            </a:r>
          </a:p>
        </p:txBody>
      </p:sp>
      <p:sp>
        <p:nvSpPr>
          <p:cNvPr id="305" name="sp305"/>
          <p:cNvSpPr/>
          <p:nvPr/>
        </p:nvSpPr>
        <p:spPr>
          <a:xfrm>
            <a:off x="914400" y="4851400"/>
            <a:ext cx="10363200" cy="15240"/>
          </a:xfrm>
          <a:prstGeom prst="rect">
            <a:avLst/>
          </a:prstGeom>
          <a:solidFill>
            <a:srgbClr val="CBC4B6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306" name="sp306"/>
          <p:cNvSpPr/>
          <p:nvPr/>
        </p:nvSpPr>
        <p:spPr>
          <a:xfrm>
            <a:off x="3352800" y="5054600"/>
            <a:ext cx="15240" cy="1473200"/>
          </a:xfrm>
          <a:prstGeom prst="rect">
            <a:avLst/>
          </a:prstGeom>
          <a:solidFill>
            <a:srgbClr val="CBC4B6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de-DE"/>
          </a:p>
        </p:txBody>
      </p:sp>
      <p:sp>
        <p:nvSpPr>
          <p:cNvPr id="307" name="sp307"/>
          <p:cNvSpPr/>
          <p:nvPr/>
        </p:nvSpPr>
        <p:spPr>
          <a:xfrm>
            <a:off x="5943600" y="5054600"/>
            <a:ext cx="15240" cy="1473200"/>
          </a:xfrm>
          <a:prstGeom prst="rect">
            <a:avLst/>
          </a:prstGeom>
          <a:solidFill>
            <a:srgbClr val="CBC4B6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de-DE"/>
          </a:p>
        </p:txBody>
      </p:sp>
      <p:sp>
        <p:nvSpPr>
          <p:cNvPr id="308" name="sp308"/>
          <p:cNvSpPr/>
          <p:nvPr/>
        </p:nvSpPr>
        <p:spPr>
          <a:xfrm>
            <a:off x="8534400" y="5054600"/>
            <a:ext cx="15240" cy="1473200"/>
          </a:xfrm>
          <a:prstGeom prst="rect">
            <a:avLst/>
          </a:prstGeom>
          <a:solidFill>
            <a:srgbClr val="CBC4B6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de-DE"/>
          </a:p>
        </p:txBody>
      </p:sp>
      <p:sp>
        <p:nvSpPr>
          <p:cNvPr id="309" name="sp309"/>
          <p:cNvSpPr/>
          <p:nvPr/>
        </p:nvSpPr>
        <p:spPr>
          <a:xfrm>
            <a:off x="914400" y="5003800"/>
            <a:ext cx="2387600" cy="16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76200" bIns="0" anchor="t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de-DE" sz="3400" b="1">
                <a:solidFill>
                  <a:srgbClr val="2C5468"/>
                </a:solidFill>
                <a:latin typeface="Georgia"/>
                <a:cs typeface="Georgia"/>
              </a:rPr>
              <a:t>6</a:t>
            </a:r>
          </a:p>
          <a:p>
            <a:pPr>
              <a:spcAft>
                <a:spcPts val="300"/>
              </a:spcAft>
              <a:buNone/>
            </a:pPr>
            <a:r>
              <a:rPr lang="de-DE" sz="1500" b="1">
                <a:solidFill>
                  <a:srgbClr val="23282E"/>
                </a:solidFill>
                <a:latin typeface="Arial"/>
                <a:cs typeface="Arial"/>
              </a:rPr>
              <a:t>Klassen</a:t>
            </a:r>
          </a:p>
          <a:p>
            <a:pPr>
              <a:lnSpc>
                <a:spcPts val="1650"/>
              </a:lnSpc>
              <a:buNone/>
            </a:pPr>
            <a:r>
              <a:rPr lang="de-DE" sz="1400">
                <a:solidFill>
                  <a:srgbClr val="6B6357"/>
                </a:solidFill>
                <a:latin typeface="Arial"/>
                <a:cs typeface="Arial"/>
              </a:rPr>
              <a:t>Gehen · Laufen · Liegen · Stehen · Treppe hoch / runter</a:t>
            </a:r>
          </a:p>
        </p:txBody>
      </p:sp>
      <p:sp>
        <p:nvSpPr>
          <p:cNvPr id="310" name="sp310"/>
          <p:cNvSpPr/>
          <p:nvPr/>
        </p:nvSpPr>
        <p:spPr>
          <a:xfrm>
            <a:off x="3505200" y="5003800"/>
            <a:ext cx="2387600" cy="16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76200" bIns="0" anchor="t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de-DE" sz="3400" b="1">
                <a:solidFill>
                  <a:srgbClr val="2C5468"/>
                </a:solidFill>
                <a:latin typeface="Georgia"/>
                <a:cs typeface="Georgia"/>
              </a:rPr>
              <a:t>3</a:t>
            </a:r>
          </a:p>
          <a:p>
            <a:pPr>
              <a:spcAft>
                <a:spcPts val="300"/>
              </a:spcAft>
              <a:buNone/>
            </a:pPr>
            <a:r>
              <a:rPr lang="de-DE" sz="1500" b="1">
                <a:solidFill>
                  <a:srgbClr val="23282E"/>
                </a:solidFill>
                <a:latin typeface="Arial"/>
                <a:cs typeface="Arial"/>
              </a:rPr>
              <a:t>Sensoren</a:t>
            </a:r>
          </a:p>
          <a:p>
            <a:pPr>
              <a:lnSpc>
                <a:spcPts val="1650"/>
              </a:lnSpc>
              <a:buNone/>
            </a:pPr>
            <a:r>
              <a:rPr lang="de-DE" sz="1400">
                <a:solidFill>
                  <a:srgbClr val="6B6357"/>
                </a:solidFill>
                <a:latin typeface="Arial"/>
                <a:cs typeface="Arial"/>
              </a:rPr>
              <a:t>Accelerometer, Gyroscope, Orientation — 9 Signale</a:t>
            </a:r>
          </a:p>
        </p:txBody>
      </p:sp>
      <p:sp>
        <p:nvSpPr>
          <p:cNvPr id="311" name="sp311"/>
          <p:cNvSpPr/>
          <p:nvPr/>
        </p:nvSpPr>
        <p:spPr>
          <a:xfrm>
            <a:off x="6096000" y="5003800"/>
            <a:ext cx="2387600" cy="16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76200" bIns="0" anchor="t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de-DE" sz="3400" b="1">
                <a:solidFill>
                  <a:srgbClr val="2C5468"/>
                </a:solidFill>
                <a:latin typeface="Georgia"/>
                <a:cs typeface="Georgia"/>
              </a:rPr>
              <a:t>47</a:t>
            </a:r>
          </a:p>
          <a:p>
            <a:pPr>
              <a:spcAft>
                <a:spcPts val="300"/>
              </a:spcAft>
              <a:buNone/>
            </a:pPr>
            <a:r>
              <a:rPr lang="de-DE" sz="1500" b="1">
                <a:solidFill>
                  <a:srgbClr val="23282E"/>
                </a:solidFill>
                <a:latin typeface="Arial"/>
                <a:cs typeface="Arial"/>
              </a:rPr>
              <a:t>Sessions</a:t>
            </a:r>
          </a:p>
          <a:p>
            <a:pPr>
              <a:lnSpc>
                <a:spcPts val="1650"/>
              </a:lnSpc>
              <a:buNone/>
            </a:pPr>
            <a:r>
              <a:rPr lang="de-DE" sz="1400">
                <a:solidFill>
                  <a:srgbClr val="6B6357"/>
                </a:solidFill>
                <a:latin typeface="Arial"/>
                <a:cs typeface="Arial"/>
              </a:rPr>
              <a:t>je eine Aufnahme: 1 Person, 1 Aktivität</a:t>
            </a:r>
          </a:p>
        </p:txBody>
      </p:sp>
      <p:sp>
        <p:nvSpPr>
          <p:cNvPr id="312" name="sp312"/>
          <p:cNvSpPr/>
          <p:nvPr/>
        </p:nvSpPr>
        <p:spPr>
          <a:xfrm>
            <a:off x="8686800" y="5003800"/>
            <a:ext cx="2387600" cy="16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76200" bIns="0" anchor="t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de-DE" sz="3400" b="1">
                <a:solidFill>
                  <a:srgbClr val="2C5468"/>
                </a:solidFill>
                <a:latin typeface="Georgia"/>
                <a:cs typeface="Georgia"/>
              </a:rPr>
              <a:t>3.621</a:t>
            </a:r>
          </a:p>
          <a:p>
            <a:pPr>
              <a:spcAft>
                <a:spcPts val="300"/>
              </a:spcAft>
              <a:buNone/>
            </a:pPr>
            <a:r>
              <a:rPr lang="de-DE" sz="1500" b="1">
                <a:solidFill>
                  <a:srgbClr val="23282E"/>
                </a:solidFill>
                <a:latin typeface="Arial"/>
                <a:cs typeface="Arial"/>
              </a:rPr>
              <a:t>Fenster</a:t>
            </a:r>
          </a:p>
          <a:p>
            <a:pPr>
              <a:lnSpc>
                <a:spcPts val="1650"/>
              </a:lnSpc>
              <a:buNone/>
            </a:pPr>
            <a:r>
              <a:rPr lang="de-DE" sz="1400">
                <a:solidFill>
                  <a:srgbClr val="6B6357"/>
                </a:solidFill>
                <a:latin typeface="Arial"/>
                <a:cs typeface="Arial"/>
              </a:rPr>
              <a:t>2-Sek-Ausschnitte — die Einheit der Klassifikation</a:t>
            </a:r>
          </a:p>
        </p:txBody>
      </p:sp>
      <p:sp>
        <p:nvSpPr>
          <p:cNvPr id="419" name="teamNames"/>
          <p:cNvSpPr txBox="1"/>
          <p:nvPr/>
        </p:nvSpPr>
        <p:spPr>
          <a:xfrm>
            <a:off x="914400" y="4089400"/>
            <a:ext cx="5334000" cy="609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900"/>
              </a:lnSpc>
              <a:buNone/>
            </a:pPr>
            <a:r>
              <a:rPr lang="de-DE" sz="1400" b="1" spc="100">
                <a:solidFill>
                  <a:srgbClr val="2C5468"/>
                </a:solidFill>
                <a:latin typeface="Consolas"/>
                <a:cs typeface="Consolas"/>
              </a:rPr>
              <a:t>TEAM </a:t>
            </a:r>
            <a:r>
              <a:rPr lang="de-DE" sz="1400" b="1" spc="100" err="1">
                <a:solidFill>
                  <a:srgbClr val="2C5468"/>
                </a:solidFill>
                <a:latin typeface="Consolas"/>
                <a:cs typeface="Consolas"/>
              </a:rPr>
              <a:t>Radli</a:t>
            </a:r>
            <a:r>
              <a:rPr lang="de-DE" sz="1400" b="1" spc="100">
                <a:solidFill>
                  <a:srgbClr val="2C5468"/>
                </a:solidFill>
                <a:latin typeface="Consolas"/>
                <a:cs typeface="Consolas"/>
              </a:rPr>
              <a:t>:</a:t>
            </a:r>
          </a:p>
          <a:p>
            <a:pPr>
              <a:lnSpc>
                <a:spcPts val="1900"/>
              </a:lnSpc>
              <a:buNone/>
            </a:pPr>
            <a:r>
              <a:rPr lang="de-DE" sz="1400">
                <a:solidFill>
                  <a:srgbClr val="23282E"/>
                </a:solidFill>
                <a:latin typeface="Arial"/>
                <a:cs typeface="Arial"/>
              </a:rPr>
              <a:t>AL-</a:t>
            </a:r>
            <a:r>
              <a:rPr lang="de-DE" sz="1400" err="1">
                <a:solidFill>
                  <a:srgbClr val="23282E"/>
                </a:solidFill>
                <a:latin typeface="Arial"/>
                <a:cs typeface="Arial"/>
              </a:rPr>
              <a:t>Muntakim</a:t>
            </a:r>
            <a:r>
              <a:rPr lang="de-DE" sz="1400">
                <a:solidFill>
                  <a:srgbClr val="23282E"/>
                </a:solidFill>
                <a:latin typeface="Arial"/>
                <a:cs typeface="Arial"/>
              </a:rPr>
              <a:t> Talukder · David Sommermann · Marieclaire Khelifi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638CA37-D98E-5CB0-D6AE-449FB1D69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857" y="1264363"/>
            <a:ext cx="5417952" cy="331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205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p401"/>
          <p:cNvSpPr/>
          <p:nvPr/>
        </p:nvSpPr>
        <p:spPr>
          <a:xfrm>
            <a:off x="914400" y="6858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400" b="1" spc="200">
                <a:solidFill>
                  <a:srgbClr val="2C5468"/>
                </a:solidFill>
                <a:latin typeface="Consolas"/>
                <a:cs typeface="Consolas"/>
              </a:rPr>
              <a:t>01 · FRAMING</a:t>
            </a:r>
          </a:p>
        </p:txBody>
      </p:sp>
      <p:sp>
        <p:nvSpPr>
          <p:cNvPr id="402" name="sp402"/>
          <p:cNvSpPr/>
          <p:nvPr/>
        </p:nvSpPr>
        <p:spPr>
          <a:xfrm>
            <a:off x="914400" y="10160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3200" b="1">
                <a:solidFill>
                  <a:srgbClr val="23282E"/>
                </a:solidFill>
                <a:latin typeface="Georgia"/>
                <a:cs typeface="Georgia"/>
              </a:rPr>
              <a:t>Worum geht es?</a:t>
            </a:r>
          </a:p>
        </p:txBody>
      </p:sp>
      <p:sp>
        <p:nvSpPr>
          <p:cNvPr id="403" name="sp403"/>
          <p:cNvSpPr/>
          <p:nvPr/>
        </p:nvSpPr>
        <p:spPr>
          <a:xfrm>
            <a:off x="914400" y="1752600"/>
            <a:ext cx="10363200" cy="15240"/>
          </a:xfrm>
          <a:prstGeom prst="rect">
            <a:avLst/>
          </a:prstGeom>
          <a:solidFill>
            <a:srgbClr val="CBC4B6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404" name="sp404"/>
          <p:cNvSpPr/>
          <p:nvPr/>
        </p:nvSpPr>
        <p:spPr>
          <a:xfrm>
            <a:off x="914400" y="2032000"/>
            <a:ext cx="320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500" b="1" spc="120">
                <a:solidFill>
                  <a:srgbClr val="A8443C"/>
                </a:solidFill>
                <a:latin typeface="Consolas"/>
                <a:cs typeface="Consolas"/>
              </a:rPr>
              <a:t>PROBLEM</a:t>
            </a:r>
          </a:p>
        </p:txBody>
      </p:sp>
      <p:sp>
        <p:nvSpPr>
          <p:cNvPr id="405" name="sp405"/>
          <p:cNvSpPr/>
          <p:nvPr/>
        </p:nvSpPr>
        <p:spPr>
          <a:xfrm>
            <a:off x="914400" y="2362200"/>
            <a:ext cx="584200" cy="33020"/>
          </a:xfrm>
          <a:prstGeom prst="rect">
            <a:avLst/>
          </a:prstGeom>
          <a:solidFill>
            <a:srgbClr val="A8443C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406" name="sp406"/>
          <p:cNvSpPr/>
          <p:nvPr/>
        </p:nvSpPr>
        <p:spPr>
          <a:xfrm>
            <a:off x="914400" y="2540000"/>
            <a:ext cx="32004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182880" indent="-182880">
              <a:lnSpc>
                <a:spcPts val="1700"/>
              </a:lnSpc>
              <a:spcAft>
                <a:spcPts val="800"/>
              </a:spcAft>
              <a:buFont typeface="Arial"/>
              <a:buChar char="•"/>
            </a:pPr>
            <a:r>
              <a:rPr lang="de-DE" sz="1500">
                <a:solidFill>
                  <a:srgbClr val="23282E"/>
                </a:solidFill>
                <a:latin typeface="Arial"/>
                <a:cs typeface="Arial"/>
              </a:rPr>
              <a:t>Wearables sollen Bewegung erkennen, sind aber zu schwach für große Modelle &amp; dauernde Cloud-Anbindung (Akku &amp; Datenschutz)</a:t>
            </a:r>
          </a:p>
          <a:p>
            <a:pPr marL="182880" indent="-182880">
              <a:lnSpc>
                <a:spcPts val="1700"/>
              </a:lnSpc>
              <a:spcAft>
                <a:spcPts val="800"/>
              </a:spcAft>
              <a:buFont typeface="Arial"/>
              <a:buChar char="•"/>
            </a:pPr>
            <a:r>
              <a:rPr lang="de-DE" sz="1500">
                <a:solidFill>
                  <a:srgbClr val="23282E"/>
                </a:solidFill>
                <a:latin typeface="Arial"/>
                <a:cs typeface="Arial"/>
              </a:rPr>
              <a:t>Rohe Sensordaten = nur x/</a:t>
            </a:r>
            <a:r>
              <a:rPr lang="de-DE" sz="1500" err="1">
                <a:solidFill>
                  <a:srgbClr val="23282E"/>
                </a:solidFill>
                <a:latin typeface="Arial"/>
                <a:cs typeface="Arial"/>
              </a:rPr>
              <a:t>y</a:t>
            </a:r>
            <a:r>
              <a:rPr lang="de-DE" sz="1500">
                <a:solidFill>
                  <a:srgbClr val="23282E"/>
                </a:solidFill>
                <a:latin typeface="Arial"/>
                <a:cs typeface="Arial"/>
              </a:rPr>
              <a:t>/</a:t>
            </a:r>
            <a:r>
              <a:rPr lang="de-DE" sz="1500" err="1">
                <a:solidFill>
                  <a:srgbClr val="23282E"/>
                </a:solidFill>
                <a:latin typeface="Arial"/>
                <a:cs typeface="Arial"/>
              </a:rPr>
              <a:t>z</a:t>
            </a:r>
            <a:r>
              <a:rPr lang="de-DE" sz="1500">
                <a:solidFill>
                  <a:srgbClr val="23282E"/>
                </a:solidFill>
                <a:latin typeface="Arial"/>
                <a:cs typeface="Arial"/>
              </a:rPr>
              <a:t>-Werte, nicht direkt interpretierbar</a:t>
            </a:r>
          </a:p>
        </p:txBody>
      </p:sp>
      <p:sp>
        <p:nvSpPr>
          <p:cNvPr id="407" name="sp407"/>
          <p:cNvSpPr/>
          <p:nvPr/>
        </p:nvSpPr>
        <p:spPr>
          <a:xfrm>
            <a:off x="4495800" y="2032000"/>
            <a:ext cx="320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500" b="1" spc="120">
                <a:solidFill>
                  <a:srgbClr val="8A5A1A"/>
                </a:solidFill>
                <a:latin typeface="Consolas"/>
                <a:cs typeface="Consolas"/>
              </a:rPr>
              <a:t>ZIEL</a:t>
            </a:r>
          </a:p>
        </p:txBody>
      </p:sp>
      <p:sp>
        <p:nvSpPr>
          <p:cNvPr id="408" name="sp408"/>
          <p:cNvSpPr/>
          <p:nvPr/>
        </p:nvSpPr>
        <p:spPr>
          <a:xfrm>
            <a:off x="4495800" y="2362200"/>
            <a:ext cx="584200" cy="33020"/>
          </a:xfrm>
          <a:prstGeom prst="rect">
            <a:avLst/>
          </a:prstGeom>
          <a:solidFill>
            <a:srgbClr val="B5862E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409" name="sp409"/>
          <p:cNvSpPr/>
          <p:nvPr/>
        </p:nvSpPr>
        <p:spPr>
          <a:xfrm>
            <a:off x="4495800" y="2540000"/>
            <a:ext cx="32004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182880" indent="-182880">
              <a:lnSpc>
                <a:spcPts val="1700"/>
              </a:lnSpc>
              <a:spcAft>
                <a:spcPts val="800"/>
              </a:spcAft>
              <a:buFont typeface="Arial"/>
              <a:buChar char="•"/>
            </a:pPr>
            <a:r>
              <a:rPr lang="de-DE" sz="1500">
                <a:solidFill>
                  <a:srgbClr val="23282E"/>
                </a:solidFill>
                <a:latin typeface="Arial"/>
                <a:cs typeface="Arial"/>
              </a:rPr>
              <a:t>6 Alltagsaktivitäten zuverlässig unterscheiden</a:t>
            </a:r>
          </a:p>
          <a:p>
            <a:pPr marL="182880" indent="-182880">
              <a:lnSpc>
                <a:spcPts val="1700"/>
              </a:lnSpc>
              <a:spcAft>
                <a:spcPts val="800"/>
              </a:spcAft>
              <a:buFont typeface="Arial"/>
              <a:buChar char="•"/>
            </a:pPr>
            <a:r>
              <a:rPr lang="de-DE" sz="1500">
                <a:solidFill>
                  <a:srgbClr val="23282E"/>
                </a:solidFill>
                <a:latin typeface="Arial"/>
                <a:cs typeface="Arial"/>
              </a:rPr>
              <a:t>Modell klein genug, um auf dem Gerät zu laufen: offline, sparsam, datenschutzfreundlich</a:t>
            </a:r>
          </a:p>
        </p:txBody>
      </p:sp>
      <p:sp>
        <p:nvSpPr>
          <p:cNvPr id="410" name="sp410"/>
          <p:cNvSpPr/>
          <p:nvPr/>
        </p:nvSpPr>
        <p:spPr>
          <a:xfrm>
            <a:off x="8077200" y="2032000"/>
            <a:ext cx="320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500" b="1" spc="120">
                <a:solidFill>
                  <a:srgbClr val="1F6E7A"/>
                </a:solidFill>
                <a:latin typeface="Consolas"/>
                <a:cs typeface="Consolas"/>
              </a:rPr>
              <a:t>LÖSUNG</a:t>
            </a:r>
          </a:p>
        </p:txBody>
      </p:sp>
      <p:sp>
        <p:nvSpPr>
          <p:cNvPr id="411" name="sp411"/>
          <p:cNvSpPr/>
          <p:nvPr/>
        </p:nvSpPr>
        <p:spPr>
          <a:xfrm>
            <a:off x="8077200" y="2362200"/>
            <a:ext cx="584200" cy="33020"/>
          </a:xfrm>
          <a:prstGeom prst="rect">
            <a:avLst/>
          </a:prstGeom>
          <a:solidFill>
            <a:srgbClr val="1F6E7A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412" name="sp412"/>
          <p:cNvSpPr/>
          <p:nvPr/>
        </p:nvSpPr>
        <p:spPr>
          <a:xfrm>
            <a:off x="8077200" y="2540000"/>
            <a:ext cx="32004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182880" indent="-182880">
              <a:lnSpc>
                <a:spcPts val="1700"/>
              </a:lnSpc>
              <a:spcAft>
                <a:spcPts val="800"/>
              </a:spcAft>
              <a:buFont typeface="Arial"/>
              <a:buChar char="•"/>
            </a:pPr>
            <a:r>
              <a:rPr lang="de-DE" sz="1500">
                <a:solidFill>
                  <a:srgbClr val="23282E"/>
                </a:solidFill>
                <a:latin typeface="Arial"/>
                <a:cs typeface="Arial"/>
              </a:rPr>
              <a:t>Statistische Features aus 2-Sekunden-Fenstern, klassifiziert mit Gradient Boosting</a:t>
            </a:r>
          </a:p>
          <a:p>
            <a:pPr marL="182880" indent="-182880">
              <a:lnSpc>
                <a:spcPts val="1700"/>
              </a:lnSpc>
              <a:spcAft>
                <a:spcPts val="800"/>
              </a:spcAft>
              <a:buFont typeface="Arial"/>
              <a:buChar char="•"/>
            </a:pPr>
            <a:r>
              <a:rPr lang="de-DE" sz="1500">
                <a:solidFill>
                  <a:srgbClr val="23282E"/>
                </a:solidFill>
                <a:latin typeface="Arial"/>
                <a:cs typeface="Arial"/>
              </a:rPr>
              <a:t>Bewusst klassisch statt Deep Learning: erklärbar, reproduzierbar, ressourcensparend</a:t>
            </a:r>
          </a:p>
        </p:txBody>
      </p:sp>
      <p:sp>
        <p:nvSpPr>
          <p:cNvPr id="413" name="sp413"/>
          <p:cNvSpPr/>
          <p:nvPr/>
        </p:nvSpPr>
        <p:spPr>
          <a:xfrm>
            <a:off x="4114800" y="2006600"/>
            <a:ext cx="38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de-DE" sz="2000">
                <a:solidFill>
                  <a:srgbClr val="2C5468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414" name="sp414"/>
          <p:cNvSpPr/>
          <p:nvPr/>
        </p:nvSpPr>
        <p:spPr>
          <a:xfrm>
            <a:off x="7696200" y="2006600"/>
            <a:ext cx="38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de-DE" sz="2000">
                <a:solidFill>
                  <a:srgbClr val="2C5468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415" name="sp415"/>
          <p:cNvSpPr/>
          <p:nvPr/>
        </p:nvSpPr>
        <p:spPr>
          <a:xfrm>
            <a:off x="914400" y="6146800"/>
            <a:ext cx="10363200" cy="15240"/>
          </a:xfrm>
          <a:prstGeom prst="rect">
            <a:avLst/>
          </a:prstGeom>
          <a:solidFill>
            <a:srgbClr val="CBC4B6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416" name="sp416"/>
          <p:cNvSpPr/>
          <p:nvPr/>
        </p:nvSpPr>
        <p:spPr>
          <a:xfrm>
            <a:off x="908154" y="5867816"/>
            <a:ext cx="10363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400" b="1" spc="120">
                <a:solidFill>
                  <a:srgbClr val="2C5468"/>
                </a:solidFill>
                <a:latin typeface="Consolas"/>
                <a:cs typeface="Consolas"/>
              </a:rPr>
              <a:t>ANWENDUNG</a:t>
            </a:r>
            <a:r>
              <a:rPr lang="de-DE" sz="1400">
                <a:solidFill>
                  <a:srgbClr val="6B6357"/>
                </a:solidFill>
                <a:latin typeface="Consolas"/>
                <a:cs typeface="Consolas"/>
              </a:rPr>
              <a:t>     Wearables  ·  Medizintechnik (Reha, Sturzerkennung)  ·  Sportanalytik</a:t>
            </a:r>
          </a:p>
        </p:txBody>
      </p:sp>
    </p:spTree>
    <p:extLst>
      <p:ext uri="{BB962C8B-B14F-4D97-AF65-F5344CB8AC3E}">
        <p14:creationId xmlns:p14="http://schemas.microsoft.com/office/powerpoint/2010/main" val="960101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DFE34D-48E8-3395-BFFD-7408AE1C3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p501">
            <a:extLst>
              <a:ext uri="{FF2B5EF4-FFF2-40B4-BE49-F238E27FC236}">
                <a16:creationId xmlns:a16="http://schemas.microsoft.com/office/drawing/2014/main" id="{39359F43-B2D5-96F0-B189-52ADC12829FB}"/>
              </a:ext>
            </a:extLst>
          </p:cNvPr>
          <p:cNvSpPr/>
          <p:nvPr/>
        </p:nvSpPr>
        <p:spPr>
          <a:xfrm>
            <a:off x="914400" y="6858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400" b="1" spc="200">
                <a:solidFill>
                  <a:srgbClr val="2C5468"/>
                </a:solidFill>
                <a:latin typeface="Consolas"/>
                <a:cs typeface="Consolas"/>
              </a:rPr>
              <a:t>02 · VORGEHENSWEISE</a:t>
            </a:r>
          </a:p>
        </p:txBody>
      </p:sp>
      <p:sp>
        <p:nvSpPr>
          <p:cNvPr id="502" name="sp502">
            <a:extLst>
              <a:ext uri="{FF2B5EF4-FFF2-40B4-BE49-F238E27FC236}">
                <a16:creationId xmlns:a16="http://schemas.microsoft.com/office/drawing/2014/main" id="{C2D6B045-63F5-9DDB-1353-20E1CC030FDC}"/>
              </a:ext>
            </a:extLst>
          </p:cNvPr>
          <p:cNvSpPr/>
          <p:nvPr/>
        </p:nvSpPr>
        <p:spPr>
          <a:xfrm>
            <a:off x="914400" y="1016000"/>
            <a:ext cx="9652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3200" b="1">
                <a:solidFill>
                  <a:srgbClr val="23282E"/>
                </a:solidFill>
                <a:latin typeface="Georgia"/>
                <a:cs typeface="Georgia"/>
              </a:rPr>
              <a:t>Vom Rohsignal zum Modell</a:t>
            </a:r>
          </a:p>
        </p:txBody>
      </p:sp>
      <p:sp>
        <p:nvSpPr>
          <p:cNvPr id="503" name="sp503">
            <a:extLst>
              <a:ext uri="{FF2B5EF4-FFF2-40B4-BE49-F238E27FC236}">
                <a16:creationId xmlns:a16="http://schemas.microsoft.com/office/drawing/2014/main" id="{987E1B6D-2701-2B01-0F99-70EF2C26A14C}"/>
              </a:ext>
            </a:extLst>
          </p:cNvPr>
          <p:cNvSpPr/>
          <p:nvPr/>
        </p:nvSpPr>
        <p:spPr>
          <a:xfrm>
            <a:off x="914400" y="1701800"/>
            <a:ext cx="10363200" cy="15240"/>
          </a:xfrm>
          <a:prstGeom prst="rect">
            <a:avLst/>
          </a:prstGeom>
          <a:solidFill>
            <a:srgbClr val="CBC4B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de-DE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7" name="sp507">
            <a:extLst>
              <a:ext uri="{FF2B5EF4-FFF2-40B4-BE49-F238E27FC236}">
                <a16:creationId xmlns:a16="http://schemas.microsoft.com/office/drawing/2014/main" id="{E7E74EFE-7181-3CFF-724E-D948BE5088A4}"/>
              </a:ext>
            </a:extLst>
          </p:cNvPr>
          <p:cNvSpPr/>
          <p:nvPr/>
        </p:nvSpPr>
        <p:spPr>
          <a:xfrm>
            <a:off x="914400" y="4489704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300" b="1" spc="120">
                <a:solidFill>
                  <a:srgbClr val="2C5468"/>
                </a:solidFill>
                <a:latin typeface="Consolas"/>
                <a:cs typeface="Consolas"/>
              </a:rPr>
              <a:t>CRISP-DM</a:t>
            </a:r>
          </a:p>
        </p:txBody>
      </p:sp>
      <p:sp>
        <p:nvSpPr>
          <p:cNvPr id="508" name="sp508">
            <a:extLst>
              <a:ext uri="{FF2B5EF4-FFF2-40B4-BE49-F238E27FC236}">
                <a16:creationId xmlns:a16="http://schemas.microsoft.com/office/drawing/2014/main" id="{BE80FE15-E237-8876-5C91-5B31F741AC0F}"/>
              </a:ext>
            </a:extLst>
          </p:cNvPr>
          <p:cNvSpPr/>
          <p:nvPr/>
        </p:nvSpPr>
        <p:spPr>
          <a:xfrm>
            <a:off x="914400" y="4769104"/>
            <a:ext cx="10363200" cy="15240"/>
          </a:xfrm>
          <a:prstGeom prst="rect">
            <a:avLst/>
          </a:prstGeom>
          <a:solidFill>
            <a:srgbClr val="CBC4B6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509" name="sp509">
            <a:extLst>
              <a:ext uri="{FF2B5EF4-FFF2-40B4-BE49-F238E27FC236}">
                <a16:creationId xmlns:a16="http://schemas.microsoft.com/office/drawing/2014/main" id="{16163BC8-F811-19B2-D891-BE8B06476462}"/>
              </a:ext>
            </a:extLst>
          </p:cNvPr>
          <p:cNvSpPr/>
          <p:nvPr/>
        </p:nvSpPr>
        <p:spPr>
          <a:xfrm>
            <a:off x="1682750" y="4731004"/>
            <a:ext cx="88900" cy="88900"/>
          </a:xfrm>
          <a:prstGeom prst="ellipse">
            <a:avLst/>
          </a:prstGeom>
          <a:solidFill>
            <a:srgbClr val="2C5468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510" name="sp510">
            <a:extLst>
              <a:ext uri="{FF2B5EF4-FFF2-40B4-BE49-F238E27FC236}">
                <a16:creationId xmlns:a16="http://schemas.microsoft.com/office/drawing/2014/main" id="{FE9D9DB3-ABDD-36AD-845D-A82FD9B04EDD}"/>
              </a:ext>
            </a:extLst>
          </p:cNvPr>
          <p:cNvSpPr/>
          <p:nvPr/>
        </p:nvSpPr>
        <p:spPr>
          <a:xfrm>
            <a:off x="914400" y="4870704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800" b="1">
                <a:solidFill>
                  <a:srgbClr val="2C5468"/>
                </a:solidFill>
                <a:latin typeface="Georgia"/>
                <a:cs typeface="Georgia"/>
              </a:rPr>
              <a:t>01</a:t>
            </a:r>
          </a:p>
        </p:txBody>
      </p:sp>
      <p:sp>
        <p:nvSpPr>
          <p:cNvPr id="511" name="sp511">
            <a:extLst>
              <a:ext uri="{FF2B5EF4-FFF2-40B4-BE49-F238E27FC236}">
                <a16:creationId xmlns:a16="http://schemas.microsoft.com/office/drawing/2014/main" id="{2C05F823-A098-9CBD-5E8B-23485B8AA070}"/>
              </a:ext>
            </a:extLst>
          </p:cNvPr>
          <p:cNvSpPr/>
          <p:nvPr/>
        </p:nvSpPr>
        <p:spPr>
          <a:xfrm>
            <a:off x="914400" y="5200904"/>
            <a:ext cx="1625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76200" bIns="0" anchor="t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de-DE" sz="1300" b="1">
                <a:solidFill>
                  <a:srgbClr val="23282E"/>
                </a:solidFill>
                <a:latin typeface="Arial"/>
                <a:cs typeface="Arial"/>
              </a:rPr>
              <a:t>Business Understanding</a:t>
            </a:r>
          </a:p>
          <a:p>
            <a:pPr>
              <a:lnSpc>
                <a:spcPts val="1380"/>
              </a:lnSpc>
              <a:buNone/>
            </a:pPr>
            <a:r>
              <a:rPr lang="de-DE" sz="1200">
                <a:solidFill>
                  <a:srgbClr val="6B6357"/>
                </a:solidFill>
                <a:latin typeface="Arial"/>
                <a:cs typeface="Arial"/>
              </a:rPr>
              <a:t>Forschungsfrage &amp; Zielsystem</a:t>
            </a:r>
          </a:p>
        </p:txBody>
      </p:sp>
      <p:sp>
        <p:nvSpPr>
          <p:cNvPr id="512" name="sp512">
            <a:extLst>
              <a:ext uri="{FF2B5EF4-FFF2-40B4-BE49-F238E27FC236}">
                <a16:creationId xmlns:a16="http://schemas.microsoft.com/office/drawing/2014/main" id="{49AD0090-BDBA-E7D4-2D88-8F7D4FA45E8B}"/>
              </a:ext>
            </a:extLst>
          </p:cNvPr>
          <p:cNvSpPr/>
          <p:nvPr/>
        </p:nvSpPr>
        <p:spPr>
          <a:xfrm>
            <a:off x="3409950" y="4731004"/>
            <a:ext cx="88900" cy="88900"/>
          </a:xfrm>
          <a:prstGeom prst="ellipse">
            <a:avLst/>
          </a:prstGeom>
          <a:solidFill>
            <a:srgbClr val="2C5468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513" name="sp513">
            <a:extLst>
              <a:ext uri="{FF2B5EF4-FFF2-40B4-BE49-F238E27FC236}">
                <a16:creationId xmlns:a16="http://schemas.microsoft.com/office/drawing/2014/main" id="{C098B88D-5864-E559-2B13-004C1BC8C25C}"/>
              </a:ext>
            </a:extLst>
          </p:cNvPr>
          <p:cNvSpPr/>
          <p:nvPr/>
        </p:nvSpPr>
        <p:spPr>
          <a:xfrm>
            <a:off x="2641600" y="4870704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800" b="1">
                <a:solidFill>
                  <a:srgbClr val="2C5468"/>
                </a:solidFill>
                <a:latin typeface="Georgia"/>
                <a:cs typeface="Georgia"/>
              </a:rPr>
              <a:t>02</a:t>
            </a:r>
          </a:p>
        </p:txBody>
      </p:sp>
      <p:sp>
        <p:nvSpPr>
          <p:cNvPr id="514" name="sp514">
            <a:extLst>
              <a:ext uri="{FF2B5EF4-FFF2-40B4-BE49-F238E27FC236}">
                <a16:creationId xmlns:a16="http://schemas.microsoft.com/office/drawing/2014/main" id="{4BDD784F-2F97-8AD2-3170-DCE7BA7BFE54}"/>
              </a:ext>
            </a:extLst>
          </p:cNvPr>
          <p:cNvSpPr/>
          <p:nvPr/>
        </p:nvSpPr>
        <p:spPr>
          <a:xfrm>
            <a:off x="2641600" y="5200904"/>
            <a:ext cx="1625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76200" bIns="0" anchor="t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de-DE" sz="1300" b="1">
                <a:solidFill>
                  <a:srgbClr val="23282E"/>
                </a:solidFill>
                <a:latin typeface="Arial"/>
                <a:cs typeface="Arial"/>
              </a:rPr>
              <a:t>Data Understanding</a:t>
            </a:r>
          </a:p>
          <a:p>
            <a:pPr>
              <a:lnSpc>
                <a:spcPts val="1380"/>
              </a:lnSpc>
              <a:buNone/>
            </a:pPr>
            <a:r>
              <a:rPr lang="de-DE" sz="1200">
                <a:solidFill>
                  <a:srgbClr val="6B6357"/>
                </a:solidFill>
                <a:latin typeface="Arial"/>
                <a:cs typeface="Arial"/>
              </a:rPr>
              <a:t>Datenerhebung (Sensor Logger) + explorative Analyse</a:t>
            </a:r>
          </a:p>
        </p:txBody>
      </p:sp>
      <p:sp>
        <p:nvSpPr>
          <p:cNvPr id="515" name="sp515">
            <a:extLst>
              <a:ext uri="{FF2B5EF4-FFF2-40B4-BE49-F238E27FC236}">
                <a16:creationId xmlns:a16="http://schemas.microsoft.com/office/drawing/2014/main" id="{EAAFCB87-8F11-ADAE-D079-9849A6F271C6}"/>
              </a:ext>
            </a:extLst>
          </p:cNvPr>
          <p:cNvSpPr/>
          <p:nvPr/>
        </p:nvSpPr>
        <p:spPr>
          <a:xfrm>
            <a:off x="5137150" y="4731004"/>
            <a:ext cx="88900" cy="88900"/>
          </a:xfrm>
          <a:prstGeom prst="ellipse">
            <a:avLst/>
          </a:prstGeom>
          <a:solidFill>
            <a:srgbClr val="2C5468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516" name="sp516">
            <a:extLst>
              <a:ext uri="{FF2B5EF4-FFF2-40B4-BE49-F238E27FC236}">
                <a16:creationId xmlns:a16="http://schemas.microsoft.com/office/drawing/2014/main" id="{B8F48B41-7197-F1BD-34BC-FD7F8A0A3453}"/>
              </a:ext>
            </a:extLst>
          </p:cNvPr>
          <p:cNvSpPr/>
          <p:nvPr/>
        </p:nvSpPr>
        <p:spPr>
          <a:xfrm>
            <a:off x="4368800" y="4870704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800" b="1">
                <a:solidFill>
                  <a:srgbClr val="2C5468"/>
                </a:solidFill>
                <a:latin typeface="Georgia"/>
                <a:cs typeface="Georgia"/>
              </a:rPr>
              <a:t>03</a:t>
            </a:r>
          </a:p>
        </p:txBody>
      </p:sp>
      <p:sp>
        <p:nvSpPr>
          <p:cNvPr id="517" name="sp517">
            <a:extLst>
              <a:ext uri="{FF2B5EF4-FFF2-40B4-BE49-F238E27FC236}">
                <a16:creationId xmlns:a16="http://schemas.microsoft.com/office/drawing/2014/main" id="{56FD0963-2C60-C1C4-A66C-604E4DADF3B5}"/>
              </a:ext>
            </a:extLst>
          </p:cNvPr>
          <p:cNvSpPr/>
          <p:nvPr/>
        </p:nvSpPr>
        <p:spPr>
          <a:xfrm>
            <a:off x="4368800" y="5200904"/>
            <a:ext cx="1625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76200" bIns="0" anchor="t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de-DE" sz="1300" b="1">
                <a:solidFill>
                  <a:srgbClr val="23282E"/>
                </a:solidFill>
                <a:latin typeface="Arial"/>
                <a:cs typeface="Arial"/>
              </a:rPr>
              <a:t>Data Preparation</a:t>
            </a:r>
          </a:p>
          <a:p>
            <a:pPr>
              <a:lnSpc>
                <a:spcPts val="1380"/>
              </a:lnSpc>
              <a:buNone/>
            </a:pPr>
            <a:r>
              <a:rPr lang="de-DE" sz="1200">
                <a:solidFill>
                  <a:srgbClr val="6B6357"/>
                </a:solidFill>
                <a:latin typeface="Arial"/>
                <a:cs typeface="Arial"/>
              </a:rPr>
              <a:t>Windowing, 81 Features, Session-Split</a:t>
            </a:r>
          </a:p>
        </p:txBody>
      </p:sp>
      <p:sp>
        <p:nvSpPr>
          <p:cNvPr id="518" name="sp518">
            <a:extLst>
              <a:ext uri="{FF2B5EF4-FFF2-40B4-BE49-F238E27FC236}">
                <a16:creationId xmlns:a16="http://schemas.microsoft.com/office/drawing/2014/main" id="{87793AC7-564A-FD58-55D1-96C4A87D4EF3}"/>
              </a:ext>
            </a:extLst>
          </p:cNvPr>
          <p:cNvSpPr/>
          <p:nvPr/>
        </p:nvSpPr>
        <p:spPr>
          <a:xfrm>
            <a:off x="6864350" y="4731004"/>
            <a:ext cx="88900" cy="88900"/>
          </a:xfrm>
          <a:prstGeom prst="ellipse">
            <a:avLst/>
          </a:prstGeom>
          <a:solidFill>
            <a:srgbClr val="2C5468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519" name="sp519">
            <a:extLst>
              <a:ext uri="{FF2B5EF4-FFF2-40B4-BE49-F238E27FC236}">
                <a16:creationId xmlns:a16="http://schemas.microsoft.com/office/drawing/2014/main" id="{5487032B-D63F-6CB2-B1CE-146C739BEC9A}"/>
              </a:ext>
            </a:extLst>
          </p:cNvPr>
          <p:cNvSpPr/>
          <p:nvPr/>
        </p:nvSpPr>
        <p:spPr>
          <a:xfrm>
            <a:off x="6096000" y="4870704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800" b="1">
                <a:solidFill>
                  <a:srgbClr val="2C5468"/>
                </a:solidFill>
                <a:latin typeface="Georgia"/>
                <a:cs typeface="Georgia"/>
              </a:rPr>
              <a:t>04</a:t>
            </a:r>
          </a:p>
        </p:txBody>
      </p:sp>
      <p:sp>
        <p:nvSpPr>
          <p:cNvPr id="520" name="sp520">
            <a:extLst>
              <a:ext uri="{FF2B5EF4-FFF2-40B4-BE49-F238E27FC236}">
                <a16:creationId xmlns:a16="http://schemas.microsoft.com/office/drawing/2014/main" id="{62F17B2F-3260-0088-C77B-053B8EA97707}"/>
              </a:ext>
            </a:extLst>
          </p:cNvPr>
          <p:cNvSpPr/>
          <p:nvPr/>
        </p:nvSpPr>
        <p:spPr>
          <a:xfrm>
            <a:off x="6096000" y="5200904"/>
            <a:ext cx="1625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76200" bIns="0" anchor="t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de-DE" sz="1300" b="1">
                <a:solidFill>
                  <a:srgbClr val="23282E"/>
                </a:solidFill>
                <a:latin typeface="Arial"/>
                <a:cs typeface="Arial"/>
              </a:rPr>
              <a:t>Modeling</a:t>
            </a:r>
          </a:p>
          <a:p>
            <a:pPr>
              <a:lnSpc>
                <a:spcPts val="1380"/>
              </a:lnSpc>
              <a:buNone/>
            </a:pPr>
            <a:r>
              <a:rPr lang="de-DE" sz="1200">
                <a:solidFill>
                  <a:srgbClr val="6B6357"/>
                </a:solidFill>
                <a:latin typeface="Arial"/>
                <a:cs typeface="Arial"/>
              </a:rPr>
              <a:t>7 Modelle + Voting, GroupKFold-CV, Tuning</a:t>
            </a:r>
          </a:p>
        </p:txBody>
      </p:sp>
      <p:sp>
        <p:nvSpPr>
          <p:cNvPr id="521" name="sp521">
            <a:extLst>
              <a:ext uri="{FF2B5EF4-FFF2-40B4-BE49-F238E27FC236}">
                <a16:creationId xmlns:a16="http://schemas.microsoft.com/office/drawing/2014/main" id="{9CC6C964-50E6-C813-1FFC-F01E4183E42C}"/>
              </a:ext>
            </a:extLst>
          </p:cNvPr>
          <p:cNvSpPr/>
          <p:nvPr/>
        </p:nvSpPr>
        <p:spPr>
          <a:xfrm>
            <a:off x="8591550" y="4731004"/>
            <a:ext cx="88900" cy="88900"/>
          </a:xfrm>
          <a:prstGeom prst="ellipse">
            <a:avLst/>
          </a:prstGeom>
          <a:solidFill>
            <a:srgbClr val="2C5468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522" name="sp522">
            <a:extLst>
              <a:ext uri="{FF2B5EF4-FFF2-40B4-BE49-F238E27FC236}">
                <a16:creationId xmlns:a16="http://schemas.microsoft.com/office/drawing/2014/main" id="{16C7782C-E18B-B9AF-98C9-5BD745107869}"/>
              </a:ext>
            </a:extLst>
          </p:cNvPr>
          <p:cNvSpPr/>
          <p:nvPr/>
        </p:nvSpPr>
        <p:spPr>
          <a:xfrm>
            <a:off x="7823200" y="4870704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800" b="1">
                <a:solidFill>
                  <a:srgbClr val="2C5468"/>
                </a:solidFill>
                <a:latin typeface="Georgia"/>
                <a:cs typeface="Georgia"/>
              </a:rPr>
              <a:t>05</a:t>
            </a:r>
          </a:p>
        </p:txBody>
      </p:sp>
      <p:sp>
        <p:nvSpPr>
          <p:cNvPr id="523" name="sp523">
            <a:extLst>
              <a:ext uri="{FF2B5EF4-FFF2-40B4-BE49-F238E27FC236}">
                <a16:creationId xmlns:a16="http://schemas.microsoft.com/office/drawing/2014/main" id="{9E19A839-9D99-6F05-543F-3C243A3D9137}"/>
              </a:ext>
            </a:extLst>
          </p:cNvPr>
          <p:cNvSpPr/>
          <p:nvPr/>
        </p:nvSpPr>
        <p:spPr>
          <a:xfrm>
            <a:off x="7823200" y="5200904"/>
            <a:ext cx="1625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76200" bIns="0" anchor="t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de-DE" sz="1300" b="1">
                <a:solidFill>
                  <a:srgbClr val="23282E"/>
                </a:solidFill>
                <a:latin typeface="Arial"/>
                <a:cs typeface="Arial"/>
              </a:rPr>
              <a:t>Evaluation</a:t>
            </a:r>
          </a:p>
          <a:p>
            <a:pPr>
              <a:lnSpc>
                <a:spcPts val="1380"/>
              </a:lnSpc>
              <a:buNone/>
            </a:pPr>
            <a:r>
              <a:rPr lang="de-DE" sz="1200">
                <a:solidFill>
                  <a:srgbClr val="6B6357"/>
                </a:solidFill>
                <a:latin typeface="Arial"/>
                <a:cs typeface="Arial"/>
              </a:rPr>
              <a:t>Test-Set, Mixed-Eval (F1 ≈ 0,87), Bias-Analyse</a:t>
            </a:r>
          </a:p>
        </p:txBody>
      </p:sp>
      <p:sp>
        <p:nvSpPr>
          <p:cNvPr id="524" name="sp524">
            <a:extLst>
              <a:ext uri="{FF2B5EF4-FFF2-40B4-BE49-F238E27FC236}">
                <a16:creationId xmlns:a16="http://schemas.microsoft.com/office/drawing/2014/main" id="{49F70C2B-9245-57E2-8DA6-9D18C47AA6D4}"/>
              </a:ext>
            </a:extLst>
          </p:cNvPr>
          <p:cNvSpPr/>
          <p:nvPr/>
        </p:nvSpPr>
        <p:spPr>
          <a:xfrm>
            <a:off x="10318750" y="4731004"/>
            <a:ext cx="88900" cy="88900"/>
          </a:xfrm>
          <a:prstGeom prst="ellipse">
            <a:avLst/>
          </a:prstGeom>
          <a:solidFill>
            <a:srgbClr val="2C5468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525" name="sp525">
            <a:extLst>
              <a:ext uri="{FF2B5EF4-FFF2-40B4-BE49-F238E27FC236}">
                <a16:creationId xmlns:a16="http://schemas.microsoft.com/office/drawing/2014/main" id="{1AF88C89-CD21-44BA-9FFE-5F8AB43AB37C}"/>
              </a:ext>
            </a:extLst>
          </p:cNvPr>
          <p:cNvSpPr/>
          <p:nvPr/>
        </p:nvSpPr>
        <p:spPr>
          <a:xfrm>
            <a:off x="9550400" y="4870704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800" b="1">
                <a:solidFill>
                  <a:srgbClr val="2C5468"/>
                </a:solidFill>
                <a:latin typeface="Georgia"/>
                <a:cs typeface="Georgia"/>
              </a:rPr>
              <a:t>06</a:t>
            </a:r>
          </a:p>
        </p:txBody>
      </p:sp>
      <p:sp>
        <p:nvSpPr>
          <p:cNvPr id="526" name="sp526">
            <a:extLst>
              <a:ext uri="{FF2B5EF4-FFF2-40B4-BE49-F238E27FC236}">
                <a16:creationId xmlns:a16="http://schemas.microsoft.com/office/drawing/2014/main" id="{A9E70A87-D8C2-8B4E-D13D-5E7F25C53F84}"/>
              </a:ext>
            </a:extLst>
          </p:cNvPr>
          <p:cNvSpPr/>
          <p:nvPr/>
        </p:nvSpPr>
        <p:spPr>
          <a:xfrm>
            <a:off x="9550400" y="5200904"/>
            <a:ext cx="1625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76200" bIns="0" anchor="t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de-DE" sz="1300" b="1">
                <a:solidFill>
                  <a:srgbClr val="23282E"/>
                </a:solidFill>
                <a:latin typeface="Arial"/>
                <a:cs typeface="Arial"/>
              </a:rPr>
              <a:t>Deployment</a:t>
            </a:r>
          </a:p>
          <a:p>
            <a:pPr>
              <a:lnSpc>
                <a:spcPts val="1380"/>
              </a:lnSpc>
              <a:buNone/>
            </a:pPr>
            <a:r>
              <a:rPr lang="de-DE" sz="1200">
                <a:solidFill>
                  <a:srgbClr val="6B6357"/>
                </a:solidFill>
                <a:latin typeface="Arial"/>
                <a:cs typeface="Arial"/>
              </a:rPr>
              <a:t>Streamlit-Web-App</a:t>
            </a:r>
          </a:p>
        </p:txBody>
      </p:sp>
      <p:sp>
        <p:nvSpPr>
          <p:cNvPr id="561" name="loopDrop">
            <a:extLst>
              <a:ext uri="{FF2B5EF4-FFF2-40B4-BE49-F238E27FC236}">
                <a16:creationId xmlns:a16="http://schemas.microsoft.com/office/drawing/2014/main" id="{9A2E543F-52BB-FC21-CE2F-FAA01D89A44A}"/>
              </a:ext>
            </a:extLst>
          </p:cNvPr>
          <p:cNvSpPr/>
          <p:nvPr/>
        </p:nvSpPr>
        <p:spPr>
          <a:xfrm>
            <a:off x="8616950" y="6093460"/>
            <a:ext cx="38100" cy="215900"/>
          </a:xfrm>
          <a:prstGeom prst="rect">
            <a:avLst/>
          </a:prstGeom>
          <a:solidFill>
            <a:srgbClr val="A8443C"/>
          </a:solidFill>
          <a:ln>
            <a:noFill/>
          </a:ln>
        </p:spPr>
        <p:txBody>
          <a:bodyPr wrap="square" lIns="0" tIns="0" rIns="0" bIns="0" anchor="t">
            <a:normAutofit fontScale="92500" lnSpcReduction="20000"/>
          </a:bodyPr>
          <a:lstStyle/>
          <a:p>
            <a:endParaRPr lang="de-DE"/>
          </a:p>
        </p:txBody>
      </p:sp>
      <p:sp>
        <p:nvSpPr>
          <p:cNvPr id="562" name="loopWire">
            <a:extLst>
              <a:ext uri="{FF2B5EF4-FFF2-40B4-BE49-F238E27FC236}">
                <a16:creationId xmlns:a16="http://schemas.microsoft.com/office/drawing/2014/main" id="{9A0C637F-745C-A563-0356-62C4A4CFA305}"/>
              </a:ext>
            </a:extLst>
          </p:cNvPr>
          <p:cNvSpPr/>
          <p:nvPr/>
        </p:nvSpPr>
        <p:spPr>
          <a:xfrm>
            <a:off x="5181600" y="6271260"/>
            <a:ext cx="3454400" cy="38100"/>
          </a:xfrm>
          <a:prstGeom prst="rect">
            <a:avLst/>
          </a:prstGeom>
          <a:solidFill>
            <a:srgbClr val="A8443C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563" name="loopHead">
            <a:extLst>
              <a:ext uri="{FF2B5EF4-FFF2-40B4-BE49-F238E27FC236}">
                <a16:creationId xmlns:a16="http://schemas.microsoft.com/office/drawing/2014/main" id="{4A317B62-874A-60E5-CC47-306325B65F58}"/>
              </a:ext>
            </a:extLst>
          </p:cNvPr>
          <p:cNvSpPr/>
          <p:nvPr/>
        </p:nvSpPr>
        <p:spPr>
          <a:xfrm>
            <a:off x="5092700" y="6055360"/>
            <a:ext cx="177800" cy="254000"/>
          </a:xfrm>
          <a:prstGeom prst="upArrow">
            <a:avLst/>
          </a:prstGeom>
          <a:solidFill>
            <a:srgbClr val="A8443C"/>
          </a:solidFill>
          <a:ln>
            <a:noFill/>
          </a:ln>
        </p:spPr>
        <p:txBody>
          <a:bodyPr wrap="square" lIns="0" tIns="0" rIns="0" bIns="0" anchor="t">
            <a:normAutofit fontScale="85000" lnSpcReduction="10000"/>
          </a:bodyPr>
          <a:lstStyle/>
          <a:p>
            <a:endParaRPr lang="de-DE"/>
          </a:p>
        </p:txBody>
      </p:sp>
      <p:sp>
        <p:nvSpPr>
          <p:cNvPr id="564" name="loopLabel">
            <a:extLst>
              <a:ext uri="{FF2B5EF4-FFF2-40B4-BE49-F238E27FC236}">
                <a16:creationId xmlns:a16="http://schemas.microsoft.com/office/drawing/2014/main" id="{28722B2F-E157-BED6-A048-52DCB70F690A}"/>
              </a:ext>
            </a:extLst>
          </p:cNvPr>
          <p:cNvSpPr/>
          <p:nvPr/>
        </p:nvSpPr>
        <p:spPr>
          <a:xfrm>
            <a:off x="3556000" y="647446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de-DE" sz="1400" i="1">
                <a:solidFill>
                  <a:srgbClr val="A8443C"/>
                </a:solidFill>
                <a:latin typeface="Georgia"/>
                <a:cs typeface="Georgia"/>
              </a:rPr>
              <a:t>Iteration: Data Leakage &amp; Stehen-Recall 0 % → zurück zu Data Preparation</a:t>
            </a:r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FE04942B-23FC-191D-06A5-35E891B48977}"/>
              </a:ext>
            </a:extLst>
          </p:cNvPr>
          <p:cNvSpPr/>
          <p:nvPr/>
        </p:nvSpPr>
        <p:spPr>
          <a:xfrm>
            <a:off x="488696" y="2187448"/>
            <a:ext cx="1280160" cy="841248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F87C0D75-6A28-DFB0-E011-5A2D56E839BD}"/>
              </a:ext>
            </a:extLst>
          </p:cNvPr>
          <p:cNvSpPr/>
          <p:nvPr/>
        </p:nvSpPr>
        <p:spPr>
          <a:xfrm>
            <a:off x="521208" y="2187448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b="1">
                <a:solidFill>
                  <a:srgbClr val="12202E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Raw CSV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30C24DF0-5C29-166E-E70B-BFBEC109B316}"/>
              </a:ext>
            </a:extLst>
          </p:cNvPr>
          <p:cNvSpPr/>
          <p:nvPr/>
        </p:nvSpPr>
        <p:spPr>
          <a:xfrm>
            <a:off x="1783080" y="2187448"/>
            <a:ext cx="169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FB6C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›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DE3BA191-16D6-3BD0-4564-C1F96686C444}"/>
              </a:ext>
            </a:extLst>
          </p:cNvPr>
          <p:cNvSpPr/>
          <p:nvPr/>
        </p:nvSpPr>
        <p:spPr>
          <a:xfrm>
            <a:off x="1924812" y="2187448"/>
            <a:ext cx="1280160" cy="841248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D61D0B88-6B3C-A0A8-D842-88E1B545F9B9}"/>
              </a:ext>
            </a:extLst>
          </p:cNvPr>
          <p:cNvSpPr/>
          <p:nvPr/>
        </p:nvSpPr>
        <p:spPr>
          <a:xfrm>
            <a:off x="1892300" y="2187448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b="1">
                <a:solidFill>
                  <a:srgbClr val="12202E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Merge &amp; </a:t>
            </a:r>
            <a:r>
              <a:rPr lang="en-US" sz="1000" b="1" err="1">
                <a:solidFill>
                  <a:srgbClr val="12202E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Resampeling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A752CA5C-8E75-91C9-4F52-A262E2B0D7D7}"/>
              </a:ext>
            </a:extLst>
          </p:cNvPr>
          <p:cNvSpPr/>
          <p:nvPr/>
        </p:nvSpPr>
        <p:spPr>
          <a:xfrm>
            <a:off x="3186684" y="2187448"/>
            <a:ext cx="169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FB6C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›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BD8F893A-F8CC-FBA8-4E2B-A135DD5DE604}"/>
              </a:ext>
            </a:extLst>
          </p:cNvPr>
          <p:cNvSpPr/>
          <p:nvPr/>
        </p:nvSpPr>
        <p:spPr>
          <a:xfrm>
            <a:off x="3295904" y="2187448"/>
            <a:ext cx="1280160" cy="841248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47F30925-6483-9C3E-1F9E-13FF90ED06A1}"/>
              </a:ext>
            </a:extLst>
          </p:cNvPr>
          <p:cNvSpPr/>
          <p:nvPr/>
        </p:nvSpPr>
        <p:spPr>
          <a:xfrm>
            <a:off x="3328416" y="2187448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b="1">
                <a:solidFill>
                  <a:srgbClr val="12202E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Trim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7EA27FFD-261B-9E14-68C3-9642DE446411}"/>
              </a:ext>
            </a:extLst>
          </p:cNvPr>
          <p:cNvSpPr/>
          <p:nvPr/>
        </p:nvSpPr>
        <p:spPr>
          <a:xfrm>
            <a:off x="4590288" y="2187448"/>
            <a:ext cx="169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FB6C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›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670DBCE3-4BD0-7700-2D86-1290721CE3A3}"/>
              </a:ext>
            </a:extLst>
          </p:cNvPr>
          <p:cNvSpPr/>
          <p:nvPr/>
        </p:nvSpPr>
        <p:spPr>
          <a:xfrm>
            <a:off x="4732020" y="2187448"/>
            <a:ext cx="1280160" cy="841248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3917FC0A-D97E-EBD2-2CB7-192188A21814}"/>
              </a:ext>
            </a:extLst>
          </p:cNvPr>
          <p:cNvSpPr/>
          <p:nvPr/>
        </p:nvSpPr>
        <p:spPr>
          <a:xfrm>
            <a:off x="4699508" y="2187448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2000"/>
              </a:lnSpc>
            </a:pPr>
            <a:r>
              <a:rPr lang="en-US" sz="1000" b="1">
                <a:solidFill>
                  <a:srgbClr val="1220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Sliding Window </a:t>
            </a:r>
          </a:p>
          <a:p>
            <a:pPr algn="ctr">
              <a:lnSpc>
                <a:spcPct val="92000"/>
              </a:lnSpc>
            </a:pPr>
            <a:r>
              <a:rPr lang="en-US" sz="1000" b="1">
                <a:solidFill>
                  <a:srgbClr val="1220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(2s, 50%)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5BE7CCA6-F839-D300-96B3-831CE9B7E768}"/>
              </a:ext>
            </a:extLst>
          </p:cNvPr>
          <p:cNvSpPr/>
          <p:nvPr/>
        </p:nvSpPr>
        <p:spPr>
          <a:xfrm>
            <a:off x="5993892" y="2187448"/>
            <a:ext cx="169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FB6C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›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E11ADB64-B017-40A9-845C-4F249A64F984}"/>
              </a:ext>
            </a:extLst>
          </p:cNvPr>
          <p:cNvSpPr/>
          <p:nvPr/>
        </p:nvSpPr>
        <p:spPr>
          <a:xfrm>
            <a:off x="6135624" y="2187448"/>
            <a:ext cx="1280160" cy="841248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F8432769-93A1-F487-5283-A12E782503E8}"/>
              </a:ext>
            </a:extLst>
          </p:cNvPr>
          <p:cNvSpPr/>
          <p:nvPr/>
        </p:nvSpPr>
        <p:spPr>
          <a:xfrm>
            <a:off x="6103112" y="2187448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b="1">
                <a:solidFill>
                  <a:srgbClr val="1220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81 Features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72070E00-20E0-782F-FC22-2CFC441D52FF}"/>
              </a:ext>
            </a:extLst>
          </p:cNvPr>
          <p:cNvSpPr/>
          <p:nvPr/>
        </p:nvSpPr>
        <p:spPr>
          <a:xfrm>
            <a:off x="7397496" y="2187448"/>
            <a:ext cx="169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FB6C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›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A79BECD5-F111-BB14-4DBB-9831B4A0D107}"/>
              </a:ext>
            </a:extLst>
          </p:cNvPr>
          <p:cNvSpPr/>
          <p:nvPr/>
        </p:nvSpPr>
        <p:spPr>
          <a:xfrm>
            <a:off x="7539228" y="2187448"/>
            <a:ext cx="1280160" cy="841248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428B254B-DD33-D6E3-34AD-CAA1148740F1}"/>
              </a:ext>
            </a:extLst>
          </p:cNvPr>
          <p:cNvSpPr/>
          <p:nvPr/>
        </p:nvSpPr>
        <p:spPr>
          <a:xfrm>
            <a:off x="7506716" y="2187448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b="1" err="1">
                <a:solidFill>
                  <a:srgbClr val="1220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GroupKFold</a:t>
            </a:r>
            <a:r>
              <a:rPr lang="en-US" sz="1000" b="1">
                <a:solidFill>
                  <a:srgbClr val="1220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00" b="1">
                <a:solidFill>
                  <a:srgbClr val="1220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(k=3)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CD69D35D-02AD-B73A-AB78-D7B2C8818789}"/>
              </a:ext>
            </a:extLst>
          </p:cNvPr>
          <p:cNvSpPr/>
          <p:nvPr/>
        </p:nvSpPr>
        <p:spPr>
          <a:xfrm>
            <a:off x="8801100" y="2187448"/>
            <a:ext cx="169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FB6C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›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116B99C9-DF9E-B34C-740D-11F20D418462}"/>
              </a:ext>
            </a:extLst>
          </p:cNvPr>
          <p:cNvSpPr/>
          <p:nvPr/>
        </p:nvSpPr>
        <p:spPr>
          <a:xfrm>
            <a:off x="8942832" y="2187448"/>
            <a:ext cx="1280160" cy="841248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A2FA9A19-1A0B-7A5C-E74B-57CBC5A1241F}"/>
              </a:ext>
            </a:extLst>
          </p:cNvPr>
          <p:cNvSpPr/>
          <p:nvPr/>
        </p:nvSpPr>
        <p:spPr>
          <a:xfrm>
            <a:off x="8910320" y="2187448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b="1">
                <a:solidFill>
                  <a:srgbClr val="1220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Gradient Boosting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46A560A5-4DB7-2886-91A6-952AD46C07DD}"/>
              </a:ext>
            </a:extLst>
          </p:cNvPr>
          <p:cNvSpPr/>
          <p:nvPr/>
        </p:nvSpPr>
        <p:spPr>
          <a:xfrm>
            <a:off x="10204704" y="2187448"/>
            <a:ext cx="169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FB6C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›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23">
            <a:extLst>
              <a:ext uri="{FF2B5EF4-FFF2-40B4-BE49-F238E27FC236}">
                <a16:creationId xmlns:a16="http://schemas.microsoft.com/office/drawing/2014/main" id="{EBB539A9-120C-060C-F60A-5C91A2A6AC0B}"/>
              </a:ext>
            </a:extLst>
          </p:cNvPr>
          <p:cNvSpPr/>
          <p:nvPr/>
        </p:nvSpPr>
        <p:spPr>
          <a:xfrm>
            <a:off x="10346436" y="2187448"/>
            <a:ext cx="1280160" cy="841248"/>
          </a:xfrm>
          <a:prstGeom prst="roundRect">
            <a:avLst>
              <a:gd name="adj" fmla="val 9783"/>
            </a:avLst>
          </a:prstGeom>
          <a:solidFill>
            <a:srgbClr val="F4A23B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24">
            <a:extLst>
              <a:ext uri="{FF2B5EF4-FFF2-40B4-BE49-F238E27FC236}">
                <a16:creationId xmlns:a16="http://schemas.microsoft.com/office/drawing/2014/main" id="{676F5AE5-591E-F04E-34D1-617439BAF754}"/>
              </a:ext>
            </a:extLst>
          </p:cNvPr>
          <p:cNvSpPr/>
          <p:nvPr/>
        </p:nvSpPr>
        <p:spPr>
          <a:xfrm>
            <a:off x="10346436" y="2187448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b="1" err="1">
                <a:solidFill>
                  <a:srgbClr val="0E24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Model.pkl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p506">
            <a:extLst>
              <a:ext uri="{FF2B5EF4-FFF2-40B4-BE49-F238E27FC236}">
                <a16:creationId xmlns:a16="http://schemas.microsoft.com/office/drawing/2014/main" id="{5CDFDBA0-40B0-DEE0-BF92-00B46CF1DE8B}"/>
              </a:ext>
            </a:extLst>
          </p:cNvPr>
          <p:cNvSpPr/>
          <p:nvPr/>
        </p:nvSpPr>
        <p:spPr>
          <a:xfrm>
            <a:off x="896874" y="3637026"/>
            <a:ext cx="103632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182880" indent="-182880">
              <a:lnSpc>
                <a:spcPts val="1600"/>
              </a:lnSpc>
              <a:spcAft>
                <a:spcPts val="500"/>
              </a:spcAft>
              <a:buFont typeface="Arial"/>
              <a:buChar char="•"/>
            </a:pPr>
            <a:r>
              <a:rPr lang="de-DE" sz="1200" b="1">
                <a:solidFill>
                  <a:srgbClr val="2C5468"/>
                </a:solidFill>
                <a:latin typeface="Arial"/>
                <a:cs typeface="Arial"/>
              </a:rPr>
              <a:t>Fenster — </a:t>
            </a:r>
            <a:r>
              <a:rPr lang="de-DE" sz="1200">
                <a:solidFill>
                  <a:srgbClr val="23282E"/>
                </a:solidFill>
                <a:latin typeface="Arial"/>
                <a:cs typeface="Arial"/>
              </a:rPr>
              <a:t>Signal in 2-Sekunden-Häppchen schneiden; pro Häppchen wird genau EINE Aktivität vorhergesagt</a:t>
            </a:r>
          </a:p>
          <a:p>
            <a:pPr marL="182880" indent="-182880">
              <a:lnSpc>
                <a:spcPts val="1600"/>
              </a:lnSpc>
              <a:buFont typeface="Arial"/>
              <a:buChar char="•"/>
            </a:pPr>
            <a:r>
              <a:rPr lang="de-DE" sz="1200" b="1">
                <a:solidFill>
                  <a:srgbClr val="2C5468"/>
                </a:solidFill>
                <a:latin typeface="Arial"/>
                <a:cs typeface="Arial"/>
              </a:rPr>
              <a:t>81 Features — </a:t>
            </a:r>
            <a:r>
              <a:rPr lang="de-DE" sz="1200">
                <a:solidFill>
                  <a:srgbClr val="23282E"/>
                </a:solidFill>
                <a:latin typeface="Arial"/>
                <a:cs typeface="Arial"/>
              </a:rPr>
              <a:t>Mittelwert, Energie, Schrittfrequenz (FFT), Neigungsänderung … z. B. trennt die Schrittfrequenz Gehen (~1,8 Hz) von Laufen (~3 Hz)</a:t>
            </a:r>
          </a:p>
        </p:txBody>
      </p:sp>
    </p:spTree>
    <p:extLst>
      <p:ext uri="{BB962C8B-B14F-4D97-AF65-F5344CB8AC3E}">
        <p14:creationId xmlns:p14="http://schemas.microsoft.com/office/powerpoint/2010/main" val="1218881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Rule">
            <a:extLst>
              <a:ext uri="{FF2B5EF4-FFF2-40B4-BE49-F238E27FC236}">
                <a16:creationId xmlns:a16="http://schemas.microsoft.com/office/drawing/2014/main" id="{904E3830-5B80-0C47-9275-651145D8B89A}"/>
              </a:ext>
            </a:extLst>
          </p:cNvPr>
          <p:cNvSpPr/>
          <p:nvPr/>
        </p:nvSpPr>
        <p:spPr>
          <a:xfrm>
            <a:off x="546100" y="1371600"/>
            <a:ext cx="11099800" cy="15240"/>
          </a:xfrm>
          <a:prstGeom prst="rect">
            <a:avLst/>
          </a:prstGeom>
          <a:solidFill>
            <a:srgbClr val="CBC4B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" name="Eyebrow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b="1" spc="200">
                <a:solidFill>
                  <a:srgbClr val="2C5468"/>
                </a:solidFill>
                <a:latin typeface="Consolas"/>
                <a:cs typeface="Consolas"/>
              </a:rPr>
              <a:t>03 · ERGEBNISSE &amp; APP-DEMO</a:t>
            </a:r>
          </a:p>
        </p:txBody>
      </p:sp>
      <p:sp>
        <p:nvSpPr>
          <p:cNvPr id="3" name="Title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3000" b="1">
                <a:solidFill>
                  <a:srgbClr val="23282E"/>
                </a:solidFill>
                <a:latin typeface="Georgia"/>
                <a:cs typeface="Georgia"/>
              </a:rPr>
              <a:t>Wie gut klassifiziert das Modell?</a:t>
            </a:r>
          </a:p>
        </p:txBody>
      </p:sp>
      <p:sp>
        <p:nvSpPr>
          <p:cNvPr id="10" name="CM Label"/>
          <p:cNvSpPr/>
          <p:nvPr/>
        </p:nvSpPr>
        <p:spPr>
          <a:xfrm>
            <a:off x="5320999" y="1549752"/>
            <a:ext cx="516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200" b="1" spc="100">
                <a:solidFill>
                  <a:srgbClr val="2C5468"/>
                </a:solidFill>
                <a:latin typeface="Consolas"/>
                <a:cs typeface="Consolas"/>
              </a:rPr>
              <a:t>KONFUSIONSMATRIX · Mixed-Evaluation, normalisiert</a:t>
            </a:r>
          </a:p>
        </p:txBody>
      </p:sp>
      <p:sp>
        <p:nvSpPr>
          <p:cNvPr id="11" name="CM Card"/>
          <p:cNvSpPr/>
          <p:nvPr/>
        </p:nvSpPr>
        <p:spPr>
          <a:xfrm>
            <a:off x="4737220" y="1893225"/>
            <a:ext cx="4496892" cy="3344796"/>
          </a:xfrm>
          <a:prstGeom prst="roundRect">
            <a:avLst>
              <a:gd name="adj" fmla="val 3279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Confusion Matrix"/>
          <p:cNvPicPr>
            <a:picLocks noChangeAspect="1"/>
          </p:cNvPicPr>
          <p:nvPr/>
        </p:nvPicPr>
        <p:blipFill>
          <a:blip r:embed="rId3"/>
          <a:srcRect l="50594" t="5888"/>
          <a:stretch>
            <a:fillRect/>
          </a:stretch>
        </p:blipFill>
        <p:spPr>
          <a:xfrm>
            <a:off x="4840499" y="1990038"/>
            <a:ext cx="4294428" cy="3141467"/>
          </a:xfrm>
          <a:prstGeom prst="rect">
            <a:avLst/>
          </a:prstGeom>
        </p:spPr>
      </p:pic>
      <p:sp>
        <p:nvSpPr>
          <p:cNvPr id="20" name="Stat A Card"/>
          <p:cNvSpPr/>
          <p:nvPr/>
        </p:nvSpPr>
        <p:spPr>
          <a:xfrm>
            <a:off x="9406636" y="1887616"/>
            <a:ext cx="2600000" cy="1383160"/>
          </a:xfrm>
          <a:prstGeom prst="roundRect">
            <a:avLst>
              <a:gd name="adj" fmla="val 6500"/>
            </a:avLst>
          </a:prstGeom>
          <a:solidFill>
            <a:srgbClr val="F3F6F9"/>
          </a:solidFill>
          <a:ln/>
          <a:effectLst>
            <a:outerShdw blurRad="889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tat A Num"/>
          <p:cNvSpPr/>
          <p:nvPr/>
        </p:nvSpPr>
        <p:spPr>
          <a:xfrm>
            <a:off x="9606636" y="1997616"/>
            <a:ext cx="22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800" b="1">
                <a:solidFill>
                  <a:srgbClr val="2C5468"/>
                </a:solidFill>
                <a:latin typeface="Georgia"/>
                <a:cs typeface="Georgia"/>
              </a:rPr>
              <a:t>0.85</a:t>
            </a:r>
          </a:p>
        </p:txBody>
      </p:sp>
      <p:sp>
        <p:nvSpPr>
          <p:cNvPr id="22" name="Stat A Label"/>
          <p:cNvSpPr/>
          <p:nvPr/>
        </p:nvSpPr>
        <p:spPr>
          <a:xfrm>
            <a:off x="9606636" y="2577616"/>
            <a:ext cx="2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500" b="1">
                <a:solidFill>
                  <a:srgbClr val="23282E"/>
                </a:solidFill>
                <a:latin typeface="Arial"/>
                <a:cs typeface="Arial"/>
              </a:rPr>
              <a:t>CV-F1</a:t>
            </a:r>
          </a:p>
        </p:txBody>
      </p:sp>
      <p:sp>
        <p:nvSpPr>
          <p:cNvPr id="23" name="Stat A Sub"/>
          <p:cNvSpPr/>
          <p:nvPr/>
        </p:nvSpPr>
        <p:spPr>
          <a:xfrm>
            <a:off x="9606636" y="2807616"/>
            <a:ext cx="24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>
                <a:solidFill>
                  <a:srgbClr val="6B6357"/>
                </a:solidFill>
                <a:latin typeface="Arial"/>
                <a:cs typeface="Arial"/>
              </a:rPr>
              <a:t>Daten ohne Übergänge</a:t>
            </a:r>
          </a:p>
        </p:txBody>
      </p:sp>
      <p:sp>
        <p:nvSpPr>
          <p:cNvPr id="25" name="Stat B Card"/>
          <p:cNvSpPr/>
          <p:nvPr/>
        </p:nvSpPr>
        <p:spPr>
          <a:xfrm>
            <a:off x="9406636" y="3617223"/>
            <a:ext cx="2600000" cy="1452081"/>
          </a:xfrm>
          <a:prstGeom prst="roundRect">
            <a:avLst>
              <a:gd name="adj" fmla="val 6500"/>
            </a:avLst>
          </a:prstGeom>
          <a:solidFill>
            <a:srgbClr val="F3F6F9"/>
          </a:solidFill>
          <a:ln/>
          <a:effectLst>
            <a:outerShdw blurRad="889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tat B Num"/>
          <p:cNvSpPr/>
          <p:nvPr/>
        </p:nvSpPr>
        <p:spPr>
          <a:xfrm>
            <a:off x="9634112" y="3697224"/>
            <a:ext cx="22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800" b="1">
                <a:solidFill>
                  <a:srgbClr val="2C5468"/>
                </a:solidFill>
                <a:latin typeface="Georgia"/>
                <a:cs typeface="Georgia"/>
              </a:rPr>
              <a:t>0.87</a:t>
            </a:r>
          </a:p>
        </p:txBody>
      </p:sp>
      <p:sp>
        <p:nvSpPr>
          <p:cNvPr id="27" name="Stat B Label"/>
          <p:cNvSpPr/>
          <p:nvPr/>
        </p:nvSpPr>
        <p:spPr>
          <a:xfrm>
            <a:off x="9643212" y="4277224"/>
            <a:ext cx="2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500" b="1">
                <a:solidFill>
                  <a:srgbClr val="23282E"/>
                </a:solidFill>
                <a:latin typeface="Arial"/>
                <a:cs typeface="Arial"/>
              </a:rPr>
              <a:t>Mixed-F1</a:t>
            </a:r>
          </a:p>
        </p:txBody>
      </p:sp>
      <p:sp>
        <p:nvSpPr>
          <p:cNvPr id="28" name="Stat B Sub"/>
          <p:cNvSpPr/>
          <p:nvPr/>
        </p:nvSpPr>
        <p:spPr>
          <a:xfrm>
            <a:off x="9634112" y="4507224"/>
            <a:ext cx="22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>
                <a:solidFill>
                  <a:srgbClr val="6B6357"/>
                </a:solidFill>
                <a:latin typeface="Arial"/>
                <a:cs typeface="Arial"/>
              </a:rPr>
              <a:t>Daten mit Übergängen</a:t>
            </a:r>
          </a:p>
        </p:txBody>
      </p:sp>
      <p:sp>
        <p:nvSpPr>
          <p:cNvPr id="30" name="Interp Card"/>
          <p:cNvSpPr/>
          <p:nvPr/>
        </p:nvSpPr>
        <p:spPr>
          <a:xfrm>
            <a:off x="9406636" y="5368000"/>
            <a:ext cx="2600000" cy="1280000"/>
          </a:xfrm>
          <a:prstGeom prst="roundRect">
            <a:avLst>
              <a:gd name="adj" fmla="val 7000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Interp Text"/>
          <p:cNvSpPr/>
          <p:nvPr/>
        </p:nvSpPr>
        <p:spPr>
          <a:xfrm>
            <a:off x="9606636" y="5486400"/>
            <a:ext cx="2389279" cy="9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de-DE" sz="1400" b="1">
                <a:solidFill>
                  <a:srgbClr val="23282E"/>
                </a:solidFill>
                <a:latin typeface="Arial"/>
                <a:cs typeface="Arial"/>
              </a:rPr>
              <a:t>Diagonale = Recall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de-DE" sz="1200">
                <a:solidFill>
                  <a:srgbClr val="6B6357"/>
                </a:solidFill>
                <a:latin typeface="Arial"/>
                <a:cs typeface="Arial"/>
              </a:rPr>
              <a:t>Hauptverwechslung: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de-DE" sz="1200" b="1">
                <a:solidFill>
                  <a:srgbClr val="A8443C"/>
                </a:solidFill>
                <a:latin typeface="Arial"/>
                <a:cs typeface="Arial"/>
              </a:rPr>
              <a:t>Gehen ↔ Treppe</a:t>
            </a:r>
          </a:p>
        </p:txBody>
      </p:sp>
      <p:sp>
        <p:nvSpPr>
          <p:cNvPr id="5" name="Text 30">
            <a:extLst>
              <a:ext uri="{FF2B5EF4-FFF2-40B4-BE49-F238E27FC236}">
                <a16:creationId xmlns:a16="http://schemas.microsoft.com/office/drawing/2014/main" id="{F4986C0B-1FB0-F090-582D-C76616998243}"/>
              </a:ext>
            </a:extLst>
          </p:cNvPr>
          <p:cNvSpPr/>
          <p:nvPr/>
        </p:nvSpPr>
        <p:spPr>
          <a:xfrm>
            <a:off x="567510" y="1529859"/>
            <a:ext cx="4808789" cy="209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100">
                <a:solidFill>
                  <a:srgbClr val="2C5468"/>
                </a:solidFill>
                <a:latin typeface="Consolas"/>
                <a:cs typeface="Consolas"/>
              </a:rPr>
              <a:t>CV-F1 MODELLVERGLEICH</a:t>
            </a:r>
          </a:p>
        </p:txBody>
      </p:sp>
      <p:sp>
        <p:nvSpPr>
          <p:cNvPr id="6" name="Shape 31">
            <a:extLst>
              <a:ext uri="{FF2B5EF4-FFF2-40B4-BE49-F238E27FC236}">
                <a16:creationId xmlns:a16="http://schemas.microsoft.com/office/drawing/2014/main" id="{AF6948D1-061D-23B1-094E-295A654AE15A}"/>
              </a:ext>
            </a:extLst>
          </p:cNvPr>
          <p:cNvSpPr/>
          <p:nvPr/>
        </p:nvSpPr>
        <p:spPr>
          <a:xfrm>
            <a:off x="567510" y="1893225"/>
            <a:ext cx="3885618" cy="4580727"/>
          </a:xfrm>
          <a:prstGeom prst="roundRect">
            <a:avLst>
              <a:gd name="adj" fmla="val 3704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E704A52-C932-B12F-B621-EF254BECF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88" y="2073375"/>
            <a:ext cx="3345536" cy="426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65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Rule">
            <a:extLst>
              <a:ext uri="{FF2B5EF4-FFF2-40B4-BE49-F238E27FC236}">
                <a16:creationId xmlns:a16="http://schemas.microsoft.com/office/drawing/2014/main" id="{6591122F-A050-704E-B376-1881C2600149}"/>
              </a:ext>
            </a:extLst>
          </p:cNvPr>
          <p:cNvSpPr/>
          <p:nvPr/>
        </p:nvSpPr>
        <p:spPr>
          <a:xfrm>
            <a:off x="546100" y="4521200"/>
            <a:ext cx="11099800" cy="15240"/>
          </a:xfrm>
          <a:prstGeom prst="rect">
            <a:avLst/>
          </a:prstGeom>
          <a:solidFill>
            <a:srgbClr val="CBC4B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TitleRule">
            <a:extLst>
              <a:ext uri="{FF2B5EF4-FFF2-40B4-BE49-F238E27FC236}">
                <a16:creationId xmlns:a16="http://schemas.microsoft.com/office/drawing/2014/main" id="{6C8FFD23-E1A0-1741-A08D-A90C42855735}"/>
              </a:ext>
            </a:extLst>
          </p:cNvPr>
          <p:cNvSpPr/>
          <p:nvPr/>
        </p:nvSpPr>
        <p:spPr>
          <a:xfrm>
            <a:off x="546100" y="1295400"/>
            <a:ext cx="11099800" cy="15240"/>
          </a:xfrm>
          <a:prstGeom prst="rect">
            <a:avLst/>
          </a:prstGeom>
          <a:solidFill>
            <a:srgbClr val="CBC4B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2C5468"/>
                </a:solidFill>
                <a:latin typeface="Consolas" pitchFamily="34" charset="0"/>
                <a:cs typeface="Consolas" pitchFamily="34" charset="-120"/>
              </a:rPr>
              <a:t>04 · ERKENNTNISSE &amp; AUSBLICK</a:t>
            </a:r>
            <a:endParaRPr lang="en-US" sz="1400" b="1" spc="200">
              <a:solidFill>
                <a:srgbClr val="2C5468"/>
              </a:solidFill>
              <a:latin typeface="Consola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3282E"/>
                </a:solidFill>
                <a:latin typeface="Georgia" pitchFamily="34" charset="0"/>
                <a:cs typeface="Georgia" pitchFamily="34" charset="-120"/>
              </a:rPr>
              <a:t>Erkenntnisse und Ausblick</a:t>
            </a:r>
            <a:endParaRPr lang="en-US" sz="3000" b="1">
              <a:solidFill>
                <a:srgbClr val="23282E"/>
              </a:solidFill>
              <a:latin typeface="Georg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6100" y="1549400"/>
            <a:ext cx="5308600" cy="2603500"/>
          </a:xfrm>
          <a:prstGeom prst="roundRect">
            <a:avLst>
              <a:gd name="adj" fmla="val 7042"/>
            </a:avLst>
          </a:prstGeom>
          <a:solidFill>
            <a:srgbClr val="F3F6F9"/>
          </a:solidFill>
          <a:ln>
            <a:noFill/>
          </a:ln>
          <a:effectLst>
            <a:outerShdw blurRad="114300" dist="38100" dir="5400000" algn="bl" rotWithShape="0">
              <a:srgbClr val="0E2438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00100" y="1778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C5468"/>
                </a:solidFill>
                <a:latin typeface="Georgia" pitchFamily="34" charset="0"/>
                <a:cs typeface="Georgia" pitchFamily="34" charset="-120"/>
              </a:rPr>
              <a:t>01</a:t>
            </a:r>
            <a:endParaRPr lang="en-US" sz="3600">
              <a:solidFill>
                <a:srgbClr val="2C5468"/>
              </a:solidFill>
              <a:latin typeface="Georgia"/>
            </a:endParaRPr>
          </a:p>
        </p:txBody>
      </p:sp>
      <p:sp>
        <p:nvSpPr>
          <p:cNvPr id="6" name="Text 4"/>
          <p:cNvSpPr/>
          <p:nvPr/>
        </p:nvSpPr>
        <p:spPr>
          <a:xfrm>
            <a:off x="800100" y="2514600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err="1">
                <a:solidFill>
                  <a:srgbClr val="23282E"/>
                </a:solidFill>
                <a:latin typeface="Arial" pitchFamily="34" charset="0"/>
                <a:cs typeface="Arial" pitchFamily="34" charset="-120"/>
              </a:rPr>
              <a:t>Klassisches</a:t>
            </a:r>
            <a:r>
              <a:rPr lang="en-US" sz="1500" b="1">
                <a:solidFill>
                  <a:srgbClr val="23282E"/>
                </a:solidFill>
                <a:latin typeface="Arial" pitchFamily="34" charset="0"/>
                <a:cs typeface="Arial" pitchFamily="34" charset="-120"/>
              </a:rPr>
              <a:t> ML </a:t>
            </a:r>
            <a:r>
              <a:rPr lang="en-US" sz="1500" b="1" err="1">
                <a:solidFill>
                  <a:srgbClr val="23282E"/>
                </a:solidFill>
                <a:latin typeface="Arial" pitchFamily="34" charset="0"/>
                <a:cs typeface="Arial" pitchFamily="34" charset="-120"/>
              </a:rPr>
              <a:t>genügt</a:t>
            </a:r>
            <a:endParaRPr lang="en-US" sz="1500">
              <a:solidFill>
                <a:srgbClr val="23282E"/>
              </a:solidFill>
              <a:latin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0100" y="2926080"/>
            <a:ext cx="48260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err="1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Einfache</a:t>
            </a:r>
            <a:r>
              <a:rPr lang="en-US" sz="1200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200" err="1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statistische</a:t>
            </a:r>
            <a:r>
              <a:rPr lang="en-US" sz="1200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 Features + Gradient Boosting </a:t>
            </a:r>
            <a:r>
              <a:rPr lang="en-US" sz="1200" err="1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erreichen</a:t>
            </a:r>
            <a:r>
              <a:rPr lang="en-US" sz="1200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 ~0,85–0,87 – </a:t>
            </a:r>
            <a:r>
              <a:rPr lang="en-US" sz="1200" err="1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ganz</a:t>
            </a:r>
            <a:r>
              <a:rPr lang="en-US" sz="1200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200" err="1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ohne</a:t>
            </a:r>
            <a:r>
              <a:rPr lang="en-US" sz="1200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 Deep Learning.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200">
              <a:solidFill>
                <a:srgbClr val="6B6357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00" err="1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Erklärbar</a:t>
            </a:r>
            <a:r>
              <a:rPr lang="en-US" sz="1200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en-US" sz="1200" err="1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reproduzierbar</a:t>
            </a:r>
            <a:r>
              <a:rPr lang="en-US" sz="1200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, on-device-</a:t>
            </a:r>
            <a:r>
              <a:rPr lang="en-US" sz="1200" err="1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tauglich</a:t>
            </a:r>
            <a:r>
              <a:rPr lang="en-US" sz="1200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.</a:t>
            </a:r>
            <a:endParaRPr lang="en-US" sz="1200">
              <a:solidFill>
                <a:srgbClr val="6B6357"/>
              </a:solidFill>
              <a:latin typeface="Arial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37300" y="1549400"/>
            <a:ext cx="5308600" cy="2603500"/>
          </a:xfrm>
          <a:prstGeom prst="roundRect">
            <a:avLst>
              <a:gd name="adj" fmla="val 7042"/>
            </a:avLst>
          </a:prstGeom>
          <a:solidFill>
            <a:srgbClr val="F3F6F9"/>
          </a:solidFill>
          <a:ln>
            <a:noFill/>
          </a:ln>
          <a:effectLst>
            <a:outerShdw blurRad="114300" dist="38100" dir="5400000" algn="bl" rotWithShape="0">
              <a:srgbClr val="0E2438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591300" y="1778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C5468"/>
                </a:solidFill>
                <a:latin typeface="Georgia" pitchFamily="34" charset="0"/>
                <a:cs typeface="Georgia" pitchFamily="34" charset="-120"/>
              </a:rPr>
              <a:t>02</a:t>
            </a:r>
            <a:endParaRPr lang="en-US" sz="3600">
              <a:solidFill>
                <a:srgbClr val="2C5468"/>
              </a:solidFill>
              <a:latin typeface="Georgi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91300" y="2514600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3282E"/>
                </a:solidFill>
                <a:latin typeface="Arial" pitchFamily="34" charset="0"/>
                <a:cs typeface="Arial" pitchFamily="34" charset="-120"/>
              </a:rPr>
              <a:t>Orientierungs-Features dominieren</a:t>
            </a:r>
            <a:endParaRPr lang="en-US" sz="1500">
              <a:solidFill>
                <a:srgbClr val="23282E"/>
              </a:solidFill>
              <a:latin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91300" y="2926080"/>
            <a:ext cx="48260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err="1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orie_pitch</a:t>
            </a:r>
            <a:r>
              <a:rPr lang="en-US" sz="1200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 (</a:t>
            </a:r>
            <a:r>
              <a:rPr lang="en-US" sz="1200" err="1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Geräteneigung</a:t>
            </a:r>
            <a:r>
              <a:rPr lang="en-US" sz="1200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) </a:t>
            </a:r>
            <a:r>
              <a:rPr lang="en-US" sz="1200" err="1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ist</a:t>
            </a:r>
            <a:r>
              <a:rPr lang="en-US" sz="1200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 das </a:t>
            </a:r>
            <a:r>
              <a:rPr lang="en-US" sz="1200" err="1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wichtigste</a:t>
            </a:r>
            <a:r>
              <a:rPr lang="en-US" sz="1200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200" err="1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Merkmal</a:t>
            </a:r>
            <a:r>
              <a:rPr lang="en-US" sz="1200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200">
              <a:solidFill>
                <a:srgbClr val="6B6357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-&gt; stark </a:t>
            </a:r>
            <a:r>
              <a:rPr lang="en-US" sz="1200" err="1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trennend</a:t>
            </a:r>
            <a:r>
              <a:rPr lang="en-US" sz="1200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en-US" sz="1200" err="1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aber</a:t>
            </a:r>
            <a:r>
              <a:rPr lang="en-US" sz="1200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 an die </a:t>
            </a:r>
            <a:r>
              <a:rPr lang="en-US" sz="1200" err="1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Tascheposition</a:t>
            </a:r>
            <a:r>
              <a:rPr lang="en-US" sz="1200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200" err="1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gebunden</a:t>
            </a:r>
            <a:r>
              <a:rPr lang="en-US" sz="1200">
                <a:solidFill>
                  <a:srgbClr val="6B6357"/>
                </a:solidFill>
                <a:latin typeface="Arial" pitchFamily="34" charset="0"/>
                <a:cs typeface="Arial" pitchFamily="34" charset="-120"/>
              </a:rPr>
              <a:t>.</a:t>
            </a:r>
            <a:endParaRPr lang="en-US" sz="1200">
              <a:solidFill>
                <a:srgbClr val="6B6357"/>
              </a:solidFill>
              <a:latin typeface="Arial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6100" y="47752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b="1" spc="120">
                <a:solidFill>
                  <a:srgbClr val="A8443C"/>
                </a:solidFill>
                <a:latin typeface="Consolas"/>
                <a:cs typeface="Consolas"/>
              </a:rPr>
              <a:t>HAUPTLIMITIERUNG</a:t>
            </a:r>
          </a:p>
        </p:txBody>
      </p:sp>
      <p:sp>
        <p:nvSpPr>
          <p:cNvPr id="18" name="Text 16"/>
          <p:cNvSpPr/>
          <p:nvPr/>
        </p:nvSpPr>
        <p:spPr>
          <a:xfrm>
            <a:off x="546100" y="5257800"/>
            <a:ext cx="5969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de-DE" sz="1500" b="1">
                <a:solidFill>
                  <a:srgbClr val="23282E"/>
                </a:solidFill>
                <a:latin typeface="Arial"/>
                <a:cs typeface="Arial"/>
              </a:rPr>
              <a:t>Personen- und Positionsbias</a:t>
            </a:r>
            <a:r>
              <a:rPr lang="de-DE" sz="1500">
                <a:solidFill>
                  <a:srgbClr val="6B6357"/>
                </a:solidFill>
                <a:latin typeface="Arial"/>
                <a:cs typeface="Arial"/>
              </a:rPr>
              <a:t> – nur 2–3 Personen, eine einzige Tascheposition</a:t>
            </a:r>
          </a:p>
        </p:txBody>
      </p:sp>
      <p:sp>
        <p:nvSpPr>
          <p:cNvPr id="40" name="Text 37"/>
          <p:cNvSpPr/>
          <p:nvPr/>
        </p:nvSpPr>
        <p:spPr>
          <a:xfrm>
            <a:off x="7112000" y="47752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>
                <a:solidFill>
                  <a:srgbClr val="2C5468"/>
                </a:solidFill>
                <a:latin typeface="Consolas" pitchFamily="34" charset="0"/>
                <a:cs typeface="Consolas" pitchFamily="34" charset="-120"/>
              </a:rPr>
              <a:t>AUSBLICK</a:t>
            </a:r>
            <a:endParaRPr lang="en-US" sz="1400" b="1" spc="120">
              <a:solidFill>
                <a:srgbClr val="2C5468"/>
              </a:solidFill>
              <a:latin typeface="Consolas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7112000" y="5461000"/>
            <a:ext cx="2133600" cy="431800"/>
          </a:xfrm>
          <a:prstGeom prst="roundRect">
            <a:avLst>
              <a:gd name="adj" fmla="val 50000"/>
            </a:avLst>
          </a:prstGeom>
          <a:solidFill>
            <a:srgbClr val="2C546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39"/>
          <p:cNvSpPr/>
          <p:nvPr/>
        </p:nvSpPr>
        <p:spPr>
          <a:xfrm>
            <a:off x="7112000" y="5461000"/>
            <a:ext cx="2133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 Probanden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45" name="Shape 42"/>
          <p:cNvSpPr/>
          <p:nvPr/>
        </p:nvSpPr>
        <p:spPr>
          <a:xfrm>
            <a:off x="9461500" y="5461000"/>
            <a:ext cx="2311400" cy="431800"/>
          </a:xfrm>
          <a:prstGeom prst="roundRect">
            <a:avLst>
              <a:gd name="adj" fmla="val 50000"/>
            </a:avLst>
          </a:prstGeom>
          <a:solidFill>
            <a:srgbClr val="2C546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3"/>
          <p:cNvSpPr/>
          <p:nvPr/>
        </p:nvSpPr>
        <p:spPr>
          <a:xfrm>
            <a:off x="9461500" y="5461000"/>
            <a:ext cx="2311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LSTM-Vergleich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31" name="LimitAccent">
            <a:extLst>
              <a:ext uri="{FF2B5EF4-FFF2-40B4-BE49-F238E27FC236}">
                <a16:creationId xmlns:a16="http://schemas.microsoft.com/office/drawing/2014/main" id="{44EBDF6C-E605-324E-A178-4E1EAA3B20FD}"/>
              </a:ext>
            </a:extLst>
          </p:cNvPr>
          <p:cNvSpPr/>
          <p:nvPr/>
        </p:nvSpPr>
        <p:spPr>
          <a:xfrm>
            <a:off x="546100" y="5105400"/>
            <a:ext cx="584200" cy="38100"/>
          </a:xfrm>
          <a:prstGeom prst="rect">
            <a:avLst/>
          </a:prstGeom>
          <a:solidFill>
            <a:srgbClr val="A844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6" name="OutlookAccent">
            <a:extLst>
              <a:ext uri="{FF2B5EF4-FFF2-40B4-BE49-F238E27FC236}">
                <a16:creationId xmlns:a16="http://schemas.microsoft.com/office/drawing/2014/main" id="{738EF701-8AF5-5149-8A68-2CB82E6BC53B}"/>
              </a:ext>
            </a:extLst>
          </p:cNvPr>
          <p:cNvSpPr/>
          <p:nvPr/>
        </p:nvSpPr>
        <p:spPr>
          <a:xfrm>
            <a:off x="7112000" y="5105400"/>
            <a:ext cx="584200" cy="38100"/>
          </a:xfrm>
          <a:prstGeom prst="rect">
            <a:avLst/>
          </a:prstGeom>
          <a:solidFill>
            <a:srgbClr val="2C546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29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TitleRule"/>
          <p:cNvSpPr/>
          <p:nvPr/>
        </p:nvSpPr>
        <p:spPr>
          <a:xfrm>
            <a:off x="546100" y="1295400"/>
            <a:ext cx="11099800" cy="12700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" name="Kicker"/>
          <p:cNvSpPr/>
          <p:nvPr/>
        </p:nvSpPr>
        <p:spPr>
          <a:xfrm>
            <a:off x="546100" y="381000"/>
            <a:ext cx="10058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de-DE" sz="1400" b="1" kern="0" spc="200">
                <a:solidFill>
                  <a:srgbClr val="2C5468"/>
                </a:solidFill>
                <a:latin typeface="Consolas" pitchFamily="34" charset="0"/>
                <a:cs typeface="Consolas" pitchFamily="34" charset="-120"/>
              </a:rPr>
              <a:t>05 · SCREENCAST</a:t>
            </a:r>
          </a:p>
        </p:txBody>
      </p:sp>
      <p:sp>
        <p:nvSpPr>
          <p:cNvPr id="1002" name="Title"/>
          <p:cNvSpPr/>
          <p:nvPr/>
        </p:nvSpPr>
        <p:spPr>
          <a:xfrm>
            <a:off x="546100" y="673100"/>
            <a:ext cx="110617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de-DE" sz="3000" b="1">
                <a:solidFill>
                  <a:srgbClr val="23282E"/>
                </a:solidFill>
                <a:latin typeface="Georgia" pitchFamily="34" charset="0"/>
                <a:cs typeface="Georgia" pitchFamily="34" charset="-120"/>
              </a:rPr>
              <a:t>Projekt-Screencast (Backup)</a:t>
            </a:r>
          </a:p>
        </p:txBody>
      </p:sp>
      <p:sp>
        <p:nvSpPr>
          <p:cNvPr id="1004" name="VideoFrame"/>
          <p:cNvSpPr/>
          <p:nvPr/>
        </p:nvSpPr>
        <p:spPr>
          <a:xfrm>
            <a:off x="2590800" y="1676400"/>
            <a:ext cx="7010400" cy="3937000"/>
          </a:xfrm>
          <a:prstGeom prst="roundRect">
            <a:avLst/>
          </a:prstGeom>
          <a:solidFill>
            <a:srgbClr val="F2F4F6"/>
          </a:solidFill>
          <a:ln w="12700" cap="flat">
            <a:solidFill>
              <a:srgbClr val="2C546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05" name="PlayCircle"/>
          <p:cNvSpPr/>
          <p:nvPr/>
        </p:nvSpPr>
        <p:spPr>
          <a:xfrm>
            <a:off x="5511800" y="3073400"/>
            <a:ext cx="1143000" cy="1143000"/>
          </a:xfrm>
          <a:prstGeom prst="ellipse">
            <a:avLst/>
          </a:prstGeom>
          <a:solidFill>
            <a:srgbClr val="2C54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7" name="PlayTriangle"/>
          <p:cNvSpPr/>
          <p:nvPr/>
        </p:nvSpPr>
        <p:spPr>
          <a:xfrm rot="5400000">
            <a:off x="5880100" y="3352800"/>
            <a:ext cx="482600" cy="5842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6" name="Caption"/>
          <p:cNvSpPr/>
          <p:nvPr/>
        </p:nvSpPr>
        <p:spPr>
          <a:xfrm>
            <a:off x="2590800" y="5740400"/>
            <a:ext cx="701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ctr">
              <a:buNone/>
            </a:pPr>
            <a:r>
              <a:rPr lang="de-DE" sz="1400">
                <a:solidFill>
                  <a:srgbClr val="5A6470"/>
                </a:solidFill>
                <a:latin typeface="Consolas" pitchFamily="34" charset="0"/>
              </a:rPr>
              <a:t>Screencast hier einfügen · Einfügen ▸ Video ▸ Dieses Gerät</a:t>
            </a:r>
          </a:p>
        </p:txBody>
      </p:sp>
    </p:spTree>
    <p:extLst>
      <p:ext uri="{BB962C8B-B14F-4D97-AF65-F5344CB8AC3E}">
        <p14:creationId xmlns:p14="http://schemas.microsoft.com/office/powerpoint/2010/main" val="893861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0E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123444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1532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ML4B · SOSE 2026 · FAU ERLANGEN-NÜRNBERG · Projekt von Gruppe NONAMES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Bewegungsklassifikation</a:t>
            </a:r>
            <a:endParaRPr lang="en-US" sz="4000"/>
          </a:p>
          <a:p>
            <a:pPr marL="0" indent="0">
              <a:lnSpc>
                <a:spcPct val="98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Smartphone-Sensordaten</a:t>
            </a:r>
            <a:endParaRPr lang="en-US" sz="400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Klassifikation von 6 Alltagsaktivitäten aus Accelerometer-, Gyroscope- und Orientierungsdaten eines Smartphones in der Hosentasche.</a:t>
            </a:r>
            <a:endParaRPr lang="en-US" sz="145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 · Gyro · Orientation  ·  81 Features  ·  Gradient Boosting</a:t>
            </a:r>
            <a:endParaRPr lang="en-US" sz="1150">
              <a:solidFill>
                <a:srgbClr val="FF0000"/>
              </a:solidFill>
            </a:endParaRPr>
          </a:p>
        </p:txBody>
      </p:sp>
      <p:pic>
        <p:nvPicPr>
          <p:cNvPr id="7" name="Image 0" descr="/home/claude/deck/assets/title_sign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82530"/>
            <a:ext cx="5166360" cy="2363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92240" y="382219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FB4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Accelerometer-Magnitude · 5 s Ausschnitt je Klasse</a:t>
            </a:r>
            <a:endParaRPr lang="en-US" sz="1000"/>
          </a:p>
        </p:txBody>
      </p:sp>
      <p:sp>
        <p:nvSpPr>
          <p:cNvPr id="9" name="Shape 6"/>
          <p:cNvSpPr/>
          <p:nvPr/>
        </p:nvSpPr>
        <p:spPr>
          <a:xfrm>
            <a:off x="640080" y="507492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5324C"/>
          </a:solidFill>
          <a:ln w="12700">
            <a:solidFill>
              <a:srgbClr val="1E44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640080" y="517550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/>
          </a:p>
        </p:txBody>
      </p:sp>
      <p:sp>
        <p:nvSpPr>
          <p:cNvPr id="11" name="Text 8"/>
          <p:cNvSpPr/>
          <p:nvPr/>
        </p:nvSpPr>
        <p:spPr>
          <a:xfrm>
            <a:off x="640080" y="56327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>
                <a:solidFill>
                  <a:srgbClr val="9FB4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KLASSEN</a:t>
            </a:r>
            <a:endParaRPr lang="en-US" sz="1100"/>
          </a:p>
        </p:txBody>
      </p:sp>
      <p:sp>
        <p:nvSpPr>
          <p:cNvPr id="12" name="Shape 9"/>
          <p:cNvSpPr/>
          <p:nvPr/>
        </p:nvSpPr>
        <p:spPr>
          <a:xfrm>
            <a:off x="3502152" y="507492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5324C"/>
          </a:solidFill>
          <a:ln w="12700">
            <a:solidFill>
              <a:srgbClr val="1E44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3502152" y="517550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/>
          </a:p>
        </p:txBody>
      </p:sp>
      <p:sp>
        <p:nvSpPr>
          <p:cNvPr id="14" name="Text 11"/>
          <p:cNvSpPr/>
          <p:nvPr/>
        </p:nvSpPr>
        <p:spPr>
          <a:xfrm>
            <a:off x="3502152" y="56327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>
                <a:solidFill>
                  <a:srgbClr val="9FB4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SENSOREN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6364224" y="507492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5324C"/>
          </a:solidFill>
          <a:ln w="12700">
            <a:solidFill>
              <a:srgbClr val="1E44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6364224" y="517550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000"/>
          </a:p>
        </p:txBody>
      </p:sp>
      <p:sp>
        <p:nvSpPr>
          <p:cNvPr id="17" name="Text 14"/>
          <p:cNvSpPr/>
          <p:nvPr/>
        </p:nvSpPr>
        <p:spPr>
          <a:xfrm>
            <a:off x="6364224" y="56327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>
                <a:solidFill>
                  <a:srgbClr val="9FB4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</a:t>
            </a:r>
            <a:endParaRPr lang="en-US" sz="1100"/>
          </a:p>
        </p:txBody>
      </p:sp>
      <p:sp>
        <p:nvSpPr>
          <p:cNvPr id="18" name="Shape 15"/>
          <p:cNvSpPr/>
          <p:nvPr/>
        </p:nvSpPr>
        <p:spPr>
          <a:xfrm>
            <a:off x="9226296" y="507492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5324C"/>
          </a:solidFill>
          <a:ln w="12700">
            <a:solidFill>
              <a:srgbClr val="1E44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/>
          <p:nvPr/>
        </p:nvSpPr>
        <p:spPr>
          <a:xfrm>
            <a:off x="9226296" y="517550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3.621</a:t>
            </a:r>
            <a:endParaRPr lang="en-US" sz="3000"/>
          </a:p>
        </p:txBody>
      </p:sp>
      <p:sp>
        <p:nvSpPr>
          <p:cNvPr id="20" name="Text 17"/>
          <p:cNvSpPr/>
          <p:nvPr/>
        </p:nvSpPr>
        <p:spPr>
          <a:xfrm>
            <a:off x="9226296" y="56327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>
                <a:solidFill>
                  <a:srgbClr val="9FB4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FENSTER</a:t>
            </a:r>
            <a:endParaRPr lang="en-US" sz="110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BE36EB6-199C-D59E-C9E5-4E4640BB0FF9}"/>
              </a:ext>
            </a:extLst>
          </p:cNvPr>
          <p:cNvSpPr txBox="1"/>
          <p:nvPr/>
        </p:nvSpPr>
        <p:spPr>
          <a:xfrm>
            <a:off x="7993299" y="941832"/>
            <a:ext cx="2839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Ist das überhaupt so richtig?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1198E0EE-1AE7-55D2-B15E-155804FC048C}"/>
              </a:ext>
            </a:extLst>
          </p:cNvPr>
          <p:cNvSpPr txBox="1"/>
          <p:nvPr/>
        </p:nvSpPr>
        <p:spPr>
          <a:xfrm>
            <a:off x="3863352" y="6106406"/>
            <a:ext cx="521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Sinnvoll, 4 so große Kasten für die Infos zu vergeben ?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49394D6-0067-1154-ECC6-51908079BD93}"/>
              </a:ext>
            </a:extLst>
          </p:cNvPr>
          <p:cNvSpPr txBox="1"/>
          <p:nvPr/>
        </p:nvSpPr>
        <p:spPr>
          <a:xfrm>
            <a:off x="1676400" y="4580021"/>
            <a:ext cx="3501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Vorgestellt von und Gemacht durch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FRAMING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Worum geht es?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29584" cy="1627632"/>
          </a:xfrm>
          <a:prstGeom prst="roundRect">
            <a:avLst>
              <a:gd name="adj" fmla="val 5618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804672" y="1700784"/>
            <a:ext cx="310896" cy="310896"/>
          </a:xfrm>
          <a:prstGeom prst="ellipse">
            <a:avLst/>
          </a:prstGeom>
          <a:solidFill>
            <a:srgbClr val="E863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261872" y="1682496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E863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804672" y="2139696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Ressourcenbeschränkte Geräte wie Fitness-Armbänder können keine komplexen Modelle ausführen.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4059936" y="1481328"/>
            <a:ext cx="28346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/>
          </a:p>
        </p:txBody>
      </p:sp>
      <p:sp>
        <p:nvSpPr>
          <p:cNvPr id="9" name="Shape 7"/>
          <p:cNvSpPr/>
          <p:nvPr/>
        </p:nvSpPr>
        <p:spPr>
          <a:xfrm>
            <a:off x="4325112" y="1481328"/>
            <a:ext cx="3529584" cy="1627632"/>
          </a:xfrm>
          <a:prstGeom prst="roundRect">
            <a:avLst>
              <a:gd name="adj" fmla="val 5618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4581144" y="1700784"/>
            <a:ext cx="310896" cy="310896"/>
          </a:xfrm>
          <a:prstGeom prst="ellipse">
            <a:avLst/>
          </a:prstGeom>
          <a:solidFill>
            <a:srgbClr val="F4A23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038344" y="1682496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F4A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ZIEL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581144" y="2139696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Alltagsaktivitäten aus einem Smartphone in der Hosentasche unterscheiden.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7836408" y="1481328"/>
            <a:ext cx="28346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/>
          </a:p>
        </p:txBody>
      </p:sp>
      <p:sp>
        <p:nvSpPr>
          <p:cNvPr id="14" name="Shape 12"/>
          <p:cNvSpPr/>
          <p:nvPr/>
        </p:nvSpPr>
        <p:spPr>
          <a:xfrm>
            <a:off x="8101584" y="1481328"/>
            <a:ext cx="3529584" cy="1627632"/>
          </a:xfrm>
          <a:prstGeom prst="roundRect">
            <a:avLst>
              <a:gd name="adj" fmla="val 5618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8357616" y="1700784"/>
            <a:ext cx="310896" cy="310896"/>
          </a:xfrm>
          <a:prstGeom prst="ellipse">
            <a:avLst/>
          </a:prstGeom>
          <a:solidFill>
            <a:srgbClr val="1FB6C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8814816" y="1682496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LÖSUNG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8357616" y="2139696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Statistische Features aus 2-Sekunden-Fenstern, klassifiziert mit Gradient Boosting. Reproduzierbar.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548640" y="3401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5E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ANWENDUNGSFELDER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548640" y="3767328"/>
            <a:ext cx="5623560" cy="603504"/>
          </a:xfrm>
          <a:prstGeom prst="roundRect">
            <a:avLst>
              <a:gd name="adj" fmla="val 15152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777240" y="3968496"/>
            <a:ext cx="201168" cy="201168"/>
          </a:xfrm>
          <a:prstGeom prst="ellipse">
            <a:avLst/>
          </a:prstGeom>
          <a:solidFill>
            <a:srgbClr val="1FB6C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1133856" y="3767328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 </a:t>
            </a:r>
            <a:r>
              <a:rPr lang="en-US" sz="115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Klassifikation ohne Cloud-Anbindung</a:t>
            </a:r>
            <a:endParaRPr lang="en-US" sz="130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5623560" cy="603504"/>
          </a:xfrm>
          <a:prstGeom prst="roundRect">
            <a:avLst>
              <a:gd name="adj" fmla="val 15152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777240" y="4681728"/>
            <a:ext cx="201168" cy="201168"/>
          </a:xfrm>
          <a:prstGeom prst="ellipse">
            <a:avLst/>
          </a:prstGeom>
          <a:solidFill>
            <a:srgbClr val="1FB6C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1133856" y="448056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Medizintechnik  </a:t>
            </a:r>
            <a:r>
              <a:rPr lang="en-US" sz="115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Aktivitätsüberwachung im Patienten-Monitoring</a:t>
            </a:r>
            <a:endParaRPr lang="en-US" sz="1300"/>
          </a:p>
        </p:txBody>
      </p:sp>
      <p:sp>
        <p:nvSpPr>
          <p:cNvPr id="25" name="Shape 23"/>
          <p:cNvSpPr/>
          <p:nvPr/>
        </p:nvSpPr>
        <p:spPr>
          <a:xfrm>
            <a:off x="548640" y="5193792"/>
            <a:ext cx="5623560" cy="603504"/>
          </a:xfrm>
          <a:prstGeom prst="roundRect">
            <a:avLst>
              <a:gd name="adj" fmla="val 15152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777240" y="5394960"/>
            <a:ext cx="201168" cy="201168"/>
          </a:xfrm>
          <a:prstGeom prst="ellipse">
            <a:avLst/>
          </a:prstGeom>
          <a:solidFill>
            <a:srgbClr val="1FB6C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1133856" y="519379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 </a:t>
            </a:r>
            <a:r>
              <a:rPr lang="en-US" sz="115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Aktivitätserkennung ohne manuelle Annotation</a:t>
            </a:r>
            <a:endParaRPr lang="en-US" sz="1300"/>
          </a:p>
        </p:txBody>
      </p:sp>
      <p:sp>
        <p:nvSpPr>
          <p:cNvPr id="28" name="Shape 26"/>
          <p:cNvSpPr/>
          <p:nvPr/>
        </p:nvSpPr>
        <p:spPr>
          <a:xfrm>
            <a:off x="6400800" y="3401568"/>
            <a:ext cx="5239512" cy="2487168"/>
          </a:xfrm>
          <a:prstGeom prst="roundRect">
            <a:avLst>
              <a:gd name="adj" fmla="val 3676"/>
            </a:avLst>
          </a:prstGeom>
          <a:solidFill>
            <a:srgbClr val="0E2438"/>
          </a:solidFill>
          <a:ln/>
          <a:effectLst>
            <a:outerShdw blurRad="114300" dist="38100" dir="5400000" algn="bl" rotWithShape="0">
              <a:srgbClr val="0E2438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6675120" y="3584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SENSOR-SETUP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6784848" y="4041648"/>
            <a:ext cx="1078992" cy="1371600"/>
          </a:xfrm>
          <a:prstGeom prst="roundRect">
            <a:avLst>
              <a:gd name="adj" fmla="val 10169"/>
            </a:avLst>
          </a:prstGeom>
          <a:solidFill>
            <a:srgbClr val="15324C"/>
          </a:solidFill>
          <a:ln w="19050">
            <a:solidFill>
              <a:srgbClr val="1FB6C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7251192" y="4160520"/>
            <a:ext cx="146304" cy="146304"/>
          </a:xfrm>
          <a:prstGeom prst="ellipse">
            <a:avLst/>
          </a:prstGeom>
          <a:solidFill>
            <a:srgbClr val="1E445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565392" y="550468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9FB4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rechte Hosentasche · vertikal</a:t>
            </a:r>
            <a:endParaRPr lang="en-US" sz="750"/>
          </a:p>
        </p:txBody>
      </p:sp>
      <p:sp>
        <p:nvSpPr>
          <p:cNvPr id="33" name="Shape 31"/>
          <p:cNvSpPr/>
          <p:nvPr/>
        </p:nvSpPr>
        <p:spPr>
          <a:xfrm>
            <a:off x="8275320" y="4215384"/>
            <a:ext cx="164592" cy="164592"/>
          </a:xfrm>
          <a:prstGeom prst="ellipse">
            <a:avLst/>
          </a:prstGeom>
          <a:solidFill>
            <a:srgbClr val="1FB6C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8577072" y="41148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</a:t>
            </a:r>
            <a:endParaRPr lang="en-US" sz="1300"/>
          </a:p>
        </p:txBody>
      </p:sp>
      <p:sp>
        <p:nvSpPr>
          <p:cNvPr id="35" name="Text 33"/>
          <p:cNvSpPr/>
          <p:nvPr/>
        </p:nvSpPr>
        <p:spPr>
          <a:xfrm>
            <a:off x="9829800" y="41148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· y · z</a:t>
            </a:r>
            <a:endParaRPr lang="en-US" sz="1200"/>
          </a:p>
        </p:txBody>
      </p:sp>
      <p:sp>
        <p:nvSpPr>
          <p:cNvPr id="36" name="Shape 34"/>
          <p:cNvSpPr/>
          <p:nvPr/>
        </p:nvSpPr>
        <p:spPr>
          <a:xfrm>
            <a:off x="8275320" y="4745736"/>
            <a:ext cx="164592" cy="164592"/>
          </a:xfrm>
          <a:prstGeom prst="ellipse">
            <a:avLst/>
          </a:prstGeom>
          <a:solidFill>
            <a:srgbClr val="F4A23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8577072" y="46451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Gyroscope</a:t>
            </a:r>
            <a:endParaRPr lang="en-US" sz="1300"/>
          </a:p>
        </p:txBody>
      </p:sp>
      <p:sp>
        <p:nvSpPr>
          <p:cNvPr id="38" name="Text 36"/>
          <p:cNvSpPr/>
          <p:nvPr/>
        </p:nvSpPr>
        <p:spPr>
          <a:xfrm>
            <a:off x="9829800" y="46451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· y · z</a:t>
            </a:r>
            <a:endParaRPr lang="en-US" sz="1200"/>
          </a:p>
        </p:txBody>
      </p:sp>
      <p:sp>
        <p:nvSpPr>
          <p:cNvPr id="39" name="Shape 37"/>
          <p:cNvSpPr/>
          <p:nvPr/>
        </p:nvSpPr>
        <p:spPr>
          <a:xfrm>
            <a:off x="8275320" y="5276088"/>
            <a:ext cx="164592" cy="164592"/>
          </a:xfrm>
          <a:prstGeom prst="ellipse">
            <a:avLst/>
          </a:prstGeom>
          <a:solidFill>
            <a:srgbClr val="7C83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8577072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300"/>
          </a:p>
        </p:txBody>
      </p:sp>
      <p:sp>
        <p:nvSpPr>
          <p:cNvPr id="41" name="Text 39"/>
          <p:cNvSpPr/>
          <p:nvPr/>
        </p:nvSpPr>
        <p:spPr>
          <a:xfrm>
            <a:off x="9829800" y="517550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 · pitch · yaw</a:t>
            </a:r>
            <a:endParaRPr lang="en-US" sz="1200"/>
          </a:p>
        </p:txBody>
      </p:sp>
      <p:sp>
        <p:nvSpPr>
          <p:cNvPr id="42" name="Shape 40"/>
          <p:cNvSpPr/>
          <p:nvPr/>
        </p:nvSpPr>
        <p:spPr>
          <a:xfrm>
            <a:off x="548640" y="6144768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E9EF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548640" y="6126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 Logger App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2478024" y="614476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E9EF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2478024" y="6126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s Sliding Window</a:t>
            </a:r>
            <a:endParaRPr lang="en-US" sz="1100"/>
          </a:p>
        </p:txBody>
      </p:sp>
      <p:sp>
        <p:nvSpPr>
          <p:cNvPr id="46" name="Shape 44"/>
          <p:cNvSpPr/>
          <p:nvPr/>
        </p:nvSpPr>
        <p:spPr>
          <a:xfrm>
            <a:off x="4498848" y="6144768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E9EF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4498848" y="6126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 Features</a:t>
            </a:r>
            <a:endParaRPr lang="en-US" sz="1100"/>
          </a:p>
        </p:txBody>
      </p:sp>
      <p:sp>
        <p:nvSpPr>
          <p:cNvPr id="48" name="Shape 46"/>
          <p:cNvSpPr/>
          <p:nvPr/>
        </p:nvSpPr>
        <p:spPr>
          <a:xfrm>
            <a:off x="5971032" y="614476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E9EF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5971032" y="6126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Klassifikatoren</a:t>
            </a:r>
            <a:endParaRPr lang="en-US" sz="1100"/>
          </a:p>
        </p:txBody>
      </p:sp>
      <p:sp>
        <p:nvSpPr>
          <p:cNvPr id="50" name="Shape 48"/>
          <p:cNvSpPr/>
          <p:nvPr/>
        </p:nvSpPr>
        <p:spPr>
          <a:xfrm>
            <a:off x="7991856" y="6144768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E9EF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/>
          <p:nvPr/>
        </p:nvSpPr>
        <p:spPr>
          <a:xfrm>
            <a:off x="7991856" y="6126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Session-Split</a:t>
            </a:r>
            <a:endParaRPr lang="en-US" sz="1100"/>
          </a:p>
        </p:txBody>
      </p:sp>
      <p:sp>
        <p:nvSpPr>
          <p:cNvPr id="52" name="Shape 50"/>
          <p:cNvSpPr/>
          <p:nvPr/>
        </p:nvSpPr>
        <p:spPr>
          <a:xfrm>
            <a:off x="9555480" y="614476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E9EF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3" name="Text 51"/>
          <p:cNvSpPr/>
          <p:nvPr/>
        </p:nvSpPr>
        <p:spPr>
          <a:xfrm>
            <a:off x="9555480" y="6126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Streamlit-App</a:t>
            </a:r>
            <a:endParaRPr lang="en-US" sz="1100"/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5DB38284-FC08-E515-39AF-6E0A2B422BC7}"/>
              </a:ext>
            </a:extLst>
          </p:cNvPr>
          <p:cNvSpPr txBox="1"/>
          <p:nvPr/>
        </p:nvSpPr>
        <p:spPr>
          <a:xfrm>
            <a:off x="6428244" y="3026119"/>
            <a:ext cx="328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Hier englische begriffe sinnvoll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VORGEHENSWEISE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Rohdaten zum Modell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280160" cy="841248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66928" y="1627632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CSV</a:t>
            </a:r>
            <a:endParaRPr lang="en-US" sz="930"/>
          </a:p>
        </p:txBody>
      </p:sp>
      <p:sp>
        <p:nvSpPr>
          <p:cNvPr id="6" name="Text 4"/>
          <p:cNvSpPr/>
          <p:nvPr/>
        </p:nvSpPr>
        <p:spPr>
          <a:xfrm>
            <a:off x="1828800" y="1627632"/>
            <a:ext cx="169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1970532" y="1627632"/>
            <a:ext cx="1280160" cy="841248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970532" y="1627632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endParaRPr lang="en-US" sz="93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ms</a:t>
            </a:r>
            <a:endParaRPr lang="en-US" sz="930"/>
          </a:p>
        </p:txBody>
      </p:sp>
      <p:sp>
        <p:nvSpPr>
          <p:cNvPr id="9" name="Text 7"/>
          <p:cNvSpPr/>
          <p:nvPr/>
        </p:nvSpPr>
        <p:spPr>
          <a:xfrm>
            <a:off x="3232404" y="1627632"/>
            <a:ext cx="169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3374136" y="1627632"/>
            <a:ext cx="1280160" cy="841248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374136" y="1627632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Resample</a:t>
            </a:r>
            <a:endParaRPr lang="en-US" sz="93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 Hz</a:t>
            </a:r>
            <a:endParaRPr lang="en-US" sz="930"/>
          </a:p>
        </p:txBody>
      </p:sp>
      <p:sp>
        <p:nvSpPr>
          <p:cNvPr id="12" name="Text 10"/>
          <p:cNvSpPr/>
          <p:nvPr/>
        </p:nvSpPr>
        <p:spPr>
          <a:xfrm>
            <a:off x="4636008" y="1627632"/>
            <a:ext cx="169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4777740" y="1627632"/>
            <a:ext cx="1280160" cy="841248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777740" y="1627632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 2 s</a:t>
            </a:r>
            <a:endParaRPr lang="en-US" sz="93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Gap-Check</a:t>
            </a:r>
            <a:endParaRPr lang="en-US" sz="930"/>
          </a:p>
        </p:txBody>
      </p:sp>
      <p:sp>
        <p:nvSpPr>
          <p:cNvPr id="15" name="Text 13"/>
          <p:cNvSpPr/>
          <p:nvPr/>
        </p:nvSpPr>
        <p:spPr>
          <a:xfrm>
            <a:off x="6039612" y="1627632"/>
            <a:ext cx="169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6181344" y="1627632"/>
            <a:ext cx="1280160" cy="841248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181344" y="1627632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Sliding</a:t>
            </a:r>
            <a:endParaRPr lang="en-US" sz="93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 2 s</a:t>
            </a:r>
            <a:endParaRPr lang="en-US" sz="930"/>
          </a:p>
        </p:txBody>
      </p:sp>
      <p:sp>
        <p:nvSpPr>
          <p:cNvPr id="18" name="Text 16"/>
          <p:cNvSpPr/>
          <p:nvPr/>
        </p:nvSpPr>
        <p:spPr>
          <a:xfrm>
            <a:off x="7443216" y="1627632"/>
            <a:ext cx="169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7584948" y="1627632"/>
            <a:ext cx="1280160" cy="841248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7584948" y="1627632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</a:t>
            </a:r>
            <a:endParaRPr lang="en-US" sz="93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endParaRPr lang="en-US" sz="930"/>
          </a:p>
        </p:txBody>
      </p:sp>
      <p:sp>
        <p:nvSpPr>
          <p:cNvPr id="21" name="Text 19"/>
          <p:cNvSpPr/>
          <p:nvPr/>
        </p:nvSpPr>
        <p:spPr>
          <a:xfrm>
            <a:off x="8846820" y="1627632"/>
            <a:ext cx="169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8988552" y="1627632"/>
            <a:ext cx="1280160" cy="841248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8988552" y="1627632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GroupKFold</a:t>
            </a:r>
            <a:endParaRPr lang="en-US" sz="93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3</a:t>
            </a:r>
            <a:endParaRPr lang="en-US" sz="930"/>
          </a:p>
        </p:txBody>
      </p:sp>
      <p:sp>
        <p:nvSpPr>
          <p:cNvPr id="24" name="Text 22"/>
          <p:cNvSpPr/>
          <p:nvPr/>
        </p:nvSpPr>
        <p:spPr>
          <a:xfrm>
            <a:off x="10250424" y="1627632"/>
            <a:ext cx="169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10392156" y="1627632"/>
            <a:ext cx="1280160" cy="841248"/>
          </a:xfrm>
          <a:prstGeom prst="roundRect">
            <a:avLst>
              <a:gd name="adj" fmla="val 9783"/>
            </a:avLst>
          </a:prstGeom>
          <a:solidFill>
            <a:srgbClr val="F4A23B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10392156" y="1627632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30" b="1">
                <a:solidFill>
                  <a:srgbClr val="0E24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</a:t>
            </a:r>
            <a:endParaRPr lang="en-US" sz="93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930" b="1">
                <a:solidFill>
                  <a:srgbClr val="0E24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Boosting</a:t>
            </a:r>
            <a:endParaRPr lang="en-US" sz="930"/>
          </a:p>
        </p:txBody>
      </p:sp>
      <p:sp>
        <p:nvSpPr>
          <p:cNvPr id="27" name="Text 25"/>
          <p:cNvSpPr/>
          <p:nvPr/>
        </p:nvSpPr>
        <p:spPr>
          <a:xfrm>
            <a:off x="10392156" y="25237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E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model.pkl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9628632" y="2468880"/>
            <a:ext cx="0" cy="438912"/>
          </a:xfrm>
          <a:prstGeom prst="line">
            <a:avLst/>
          </a:prstGeom>
          <a:noFill/>
          <a:ln w="22225">
            <a:solidFill>
              <a:srgbClr val="F4A2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6821424" y="2468880"/>
            <a:ext cx="0" cy="438912"/>
          </a:xfrm>
          <a:prstGeom prst="line">
            <a:avLst/>
          </a:prstGeom>
          <a:noFill/>
          <a:ln w="22225">
            <a:solidFill>
              <a:srgbClr val="F4A23B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6181344" y="2907792"/>
            <a:ext cx="4087368" cy="457200"/>
          </a:xfrm>
          <a:prstGeom prst="roundRect">
            <a:avLst>
              <a:gd name="adj" fmla="val 24000"/>
            </a:avLst>
          </a:prstGeom>
          <a:solidFill>
            <a:srgbClr val="FCEBD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6318504" y="2889504"/>
            <a:ext cx="3813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7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Iteration:  </a:t>
            </a:r>
            <a:r>
              <a:rPr lang="en-US" sz="1050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Leakage erkannt, Wechsel auf session-basierten Split (GroupKFold)</a:t>
            </a:r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548640" y="36576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5E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CV-F1 MODELLVERGLEICH · GroupKFold (k=3)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548640" y="3986784"/>
            <a:ext cx="5989320" cy="2468880"/>
          </a:xfrm>
          <a:prstGeom prst="roundRect">
            <a:avLst>
              <a:gd name="adj" fmla="val 3704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4" name="Image 0" descr="/home/claude/deck/asset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114800"/>
            <a:ext cx="5669280" cy="221284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812280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5E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HERAUSFORDERUNGEN → LÖSUNG</a:t>
            </a:r>
            <a:endParaRPr lang="en-US" sz="1200"/>
          </a:p>
        </p:txBody>
      </p:sp>
      <p:sp>
        <p:nvSpPr>
          <p:cNvPr id="36" name="Shape 33"/>
          <p:cNvSpPr/>
          <p:nvPr/>
        </p:nvSpPr>
        <p:spPr>
          <a:xfrm>
            <a:off x="6812280" y="4041648"/>
            <a:ext cx="482803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7" name="Shape 34"/>
          <p:cNvSpPr/>
          <p:nvPr/>
        </p:nvSpPr>
        <p:spPr>
          <a:xfrm>
            <a:off x="7004304" y="4288536"/>
            <a:ext cx="182880" cy="182880"/>
          </a:xfrm>
          <a:prstGeom prst="ellipse">
            <a:avLst/>
          </a:prstGeom>
          <a:solidFill>
            <a:srgbClr val="E863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8" name="Text 35"/>
          <p:cNvSpPr/>
          <p:nvPr/>
        </p:nvSpPr>
        <p:spPr>
          <a:xfrm>
            <a:off x="7315200" y="409651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1250"/>
          </a:p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50 % Fenster-Überlappung → CV-F1 ~0.99</a:t>
            </a:r>
            <a:endParaRPr lang="en-US" sz="1250"/>
          </a:p>
        </p:txBody>
      </p:sp>
      <p:sp>
        <p:nvSpPr>
          <p:cNvPr id="39" name="Shape 36"/>
          <p:cNvSpPr/>
          <p:nvPr/>
        </p:nvSpPr>
        <p:spPr>
          <a:xfrm>
            <a:off x="10222992" y="4224528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4FB47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0" name="Text 37"/>
          <p:cNvSpPr/>
          <p:nvPr/>
        </p:nvSpPr>
        <p:spPr>
          <a:xfrm>
            <a:off x="10222992" y="420624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Session-Split</a:t>
            </a:r>
            <a:endParaRPr lang="en-US" sz="880"/>
          </a:p>
        </p:txBody>
      </p:sp>
      <p:sp>
        <p:nvSpPr>
          <p:cNvPr id="41" name="Shape 38"/>
          <p:cNvSpPr/>
          <p:nvPr/>
        </p:nvSpPr>
        <p:spPr>
          <a:xfrm>
            <a:off x="6812280" y="4846320"/>
            <a:ext cx="482803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2" name="Shape 39"/>
          <p:cNvSpPr/>
          <p:nvPr/>
        </p:nvSpPr>
        <p:spPr>
          <a:xfrm>
            <a:off x="7004304" y="5093208"/>
            <a:ext cx="182880" cy="182880"/>
          </a:xfrm>
          <a:prstGeom prst="ellipse">
            <a:avLst/>
          </a:prstGeom>
          <a:solidFill>
            <a:srgbClr val="E863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Text 40"/>
          <p:cNvSpPr/>
          <p:nvPr/>
        </p:nvSpPr>
        <p:spPr>
          <a:xfrm>
            <a:off x="7315200" y="490118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err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Niedrige</a:t>
            </a:r>
            <a:r>
              <a:rPr lang="en-US" sz="1250" b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Schlechte </a:t>
            </a:r>
            <a:r>
              <a:rPr lang="en-US" sz="1250" b="1" err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Datenmengen</a:t>
            </a:r>
            <a:endParaRPr lang="en-US" sz="1250"/>
          </a:p>
          <a:p>
            <a:pPr marL="0" indent="0">
              <a:lnSpc>
                <a:spcPct val="95000"/>
              </a:lnSpc>
              <a:buNone/>
            </a:pPr>
            <a:r>
              <a:rPr lang="en-US" sz="950" err="1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</a:t>
            </a:r>
            <a:r>
              <a:rPr lang="en-US" sz="95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err="1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Aufnahmen</a:t>
            </a:r>
            <a:r>
              <a:rPr lang="en-US" sz="95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</a:t>
            </a:r>
            <a:r>
              <a:rPr lang="en-US" sz="950" err="1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wenigen</a:t>
            </a:r>
            <a:r>
              <a:rPr lang="en-US" sz="95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err="1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Personen</a:t>
            </a:r>
            <a:r>
              <a:rPr lang="en-US" sz="95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err="1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95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Bias</a:t>
            </a:r>
            <a:endParaRPr lang="en-US" sz="1250"/>
          </a:p>
        </p:txBody>
      </p:sp>
      <p:sp>
        <p:nvSpPr>
          <p:cNvPr id="44" name="Shape 41"/>
          <p:cNvSpPr/>
          <p:nvPr/>
        </p:nvSpPr>
        <p:spPr>
          <a:xfrm>
            <a:off x="10222992" y="5029200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4FB47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5" name="Text 42"/>
          <p:cNvSpPr/>
          <p:nvPr/>
        </p:nvSpPr>
        <p:spPr>
          <a:xfrm>
            <a:off x="10222992" y="501091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Weitere</a:t>
            </a:r>
            <a:r>
              <a:rPr lang="en-US" sz="88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80" b="1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Daten</a:t>
            </a:r>
            <a:r>
              <a:rPr lang="en-US" sz="88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80" b="1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sammeln</a:t>
            </a:r>
            <a:endParaRPr lang="en-US" sz="880"/>
          </a:p>
        </p:txBody>
      </p:sp>
      <p:sp>
        <p:nvSpPr>
          <p:cNvPr id="46" name="Shape 43"/>
          <p:cNvSpPr/>
          <p:nvPr/>
        </p:nvSpPr>
        <p:spPr>
          <a:xfrm>
            <a:off x="6812280" y="5650992"/>
            <a:ext cx="482803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7" name="Shape 44"/>
          <p:cNvSpPr/>
          <p:nvPr/>
        </p:nvSpPr>
        <p:spPr>
          <a:xfrm>
            <a:off x="7004304" y="5897880"/>
            <a:ext cx="182880" cy="182880"/>
          </a:xfrm>
          <a:prstGeom prst="ellipse">
            <a:avLst/>
          </a:prstGeom>
          <a:solidFill>
            <a:srgbClr val="E863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8" name="Text 45"/>
          <p:cNvSpPr/>
          <p:nvPr/>
        </p:nvSpPr>
        <p:spPr>
          <a:xfrm>
            <a:off x="7315200" y="570585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err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Unterscheidung</a:t>
            </a:r>
            <a:r>
              <a:rPr lang="en-US" sz="1250" b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Gehen und </a:t>
            </a:r>
            <a:r>
              <a:rPr lang="en-US" sz="1250" b="1" err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Treppen</a:t>
            </a:r>
            <a:endParaRPr lang="en-US" sz="1250"/>
          </a:p>
          <a:p>
            <a:pPr marL="0" indent="0">
              <a:lnSpc>
                <a:spcPct val="95000"/>
              </a:lnSpc>
              <a:buNone/>
            </a:pPr>
            <a:r>
              <a:rPr lang="en-US" sz="950" err="1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Ähnliche</a:t>
            </a:r>
            <a:r>
              <a:rPr lang="en-US" sz="95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err="1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Bewegungsmuster</a:t>
            </a:r>
            <a:endParaRPr lang="en-US" sz="1250"/>
          </a:p>
        </p:txBody>
      </p:sp>
      <p:sp>
        <p:nvSpPr>
          <p:cNvPr id="49" name="Shape 46"/>
          <p:cNvSpPr/>
          <p:nvPr/>
        </p:nvSpPr>
        <p:spPr>
          <a:xfrm>
            <a:off x="10222992" y="5833872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4FB47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0" name="Text 47"/>
          <p:cNvSpPr/>
          <p:nvPr/>
        </p:nvSpPr>
        <p:spPr>
          <a:xfrm>
            <a:off x="10222992" y="581558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 4 neue Sessions</a:t>
            </a:r>
            <a:endParaRPr lang="en-US" sz="88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p501"/>
          <p:cNvSpPr/>
          <p:nvPr/>
        </p:nvSpPr>
        <p:spPr>
          <a:xfrm>
            <a:off x="914400" y="6858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400" b="1" spc="200">
                <a:solidFill>
                  <a:srgbClr val="2C5468"/>
                </a:solidFill>
                <a:latin typeface="Consolas"/>
                <a:cs typeface="Consolas"/>
              </a:rPr>
              <a:t>02 · VORGEHENSWEISE</a:t>
            </a:r>
          </a:p>
        </p:txBody>
      </p:sp>
      <p:sp>
        <p:nvSpPr>
          <p:cNvPr id="502" name="sp502"/>
          <p:cNvSpPr/>
          <p:nvPr/>
        </p:nvSpPr>
        <p:spPr>
          <a:xfrm>
            <a:off x="914400" y="1016000"/>
            <a:ext cx="9652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3200" b="1">
                <a:solidFill>
                  <a:srgbClr val="23282E"/>
                </a:solidFill>
                <a:latin typeface="Georgia"/>
                <a:cs typeface="Georgia"/>
              </a:rPr>
              <a:t>Vom Rohsignal zum Modell</a:t>
            </a:r>
          </a:p>
        </p:txBody>
      </p:sp>
      <p:sp>
        <p:nvSpPr>
          <p:cNvPr id="503" name="sp503"/>
          <p:cNvSpPr/>
          <p:nvPr/>
        </p:nvSpPr>
        <p:spPr>
          <a:xfrm>
            <a:off x="914400" y="1701800"/>
            <a:ext cx="10363200" cy="15240"/>
          </a:xfrm>
          <a:prstGeom prst="rect">
            <a:avLst/>
          </a:prstGeom>
          <a:solidFill>
            <a:srgbClr val="CBC4B6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504" name="sp504"/>
          <p:cNvSpPr/>
          <p:nvPr/>
        </p:nvSpPr>
        <p:spPr>
          <a:xfrm>
            <a:off x="812800" y="1905000"/>
            <a:ext cx="10566400" cy="889000"/>
          </a:xfrm>
          <a:prstGeom prst="rect">
            <a:avLst/>
          </a:prstGeom>
          <a:solidFill>
            <a:srgbClr val="ECE8DE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de-DE"/>
          </a:p>
        </p:txBody>
      </p:sp>
      <p:sp>
        <p:nvSpPr>
          <p:cNvPr id="505" name="sp505"/>
          <p:cNvSpPr/>
          <p:nvPr/>
        </p:nvSpPr>
        <p:spPr>
          <a:xfrm>
            <a:off x="1066800" y="1905000"/>
            <a:ext cx="10058400" cy="889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0" rIns="50800" bIns="0" anchor="ctr">
            <a:normAutofit/>
          </a:bodyPr>
          <a:lstStyle/>
          <a:p>
            <a:pPr>
              <a:lnSpc>
                <a:spcPts val="2400"/>
              </a:lnSpc>
              <a:buNone/>
            </a:pPr>
            <a:r>
              <a:rPr lang="de-DE" sz="1400">
                <a:solidFill>
                  <a:srgbClr val="23282E"/>
                </a:solidFill>
                <a:latin typeface="Consolas"/>
                <a:cs typeface="Consolas"/>
              </a:rPr>
              <a:t>Roh-CSV</a:t>
            </a:r>
            <a:r>
              <a:rPr lang="de-DE" sz="1400">
                <a:solidFill>
                  <a:srgbClr val="6B6357"/>
                </a:solidFill>
                <a:latin typeface="Consolas"/>
                <a:cs typeface="Consolas"/>
              </a:rPr>
              <a:t>   →   </a:t>
            </a:r>
            <a:r>
              <a:rPr lang="de-DE" sz="1400">
                <a:solidFill>
                  <a:srgbClr val="23282E"/>
                </a:solidFill>
                <a:latin typeface="Consolas"/>
                <a:cs typeface="Consolas"/>
              </a:rPr>
              <a:t>Merge &amp; </a:t>
            </a:r>
            <a:r>
              <a:rPr lang="de-DE" sz="1400" err="1">
                <a:solidFill>
                  <a:srgbClr val="23282E"/>
                </a:solidFill>
                <a:latin typeface="Consolas"/>
                <a:cs typeface="Consolas"/>
              </a:rPr>
              <a:t>Resampling</a:t>
            </a:r>
            <a:r>
              <a:rPr lang="de-DE" sz="1400">
                <a:solidFill>
                  <a:srgbClr val="23282E"/>
                </a:solidFill>
                <a:latin typeface="Consolas"/>
                <a:cs typeface="Consolas"/>
              </a:rPr>
              <a:t> (61 Hz)</a:t>
            </a:r>
            <a:r>
              <a:rPr lang="de-DE" sz="1400">
                <a:solidFill>
                  <a:srgbClr val="6B6357"/>
                </a:solidFill>
                <a:latin typeface="Consolas"/>
                <a:cs typeface="Consolas"/>
              </a:rPr>
              <a:t>   →   </a:t>
            </a:r>
            <a:r>
              <a:rPr lang="de-DE" sz="1400">
                <a:solidFill>
                  <a:srgbClr val="23282E"/>
                </a:solidFill>
                <a:latin typeface="Consolas"/>
                <a:cs typeface="Consolas"/>
              </a:rPr>
              <a:t>Trim</a:t>
            </a:r>
            <a:r>
              <a:rPr lang="de-DE" sz="1400">
                <a:solidFill>
                  <a:srgbClr val="6B6357"/>
                </a:solidFill>
                <a:latin typeface="Consolas"/>
                <a:cs typeface="Consolas"/>
              </a:rPr>
              <a:t>   →   </a:t>
            </a:r>
            <a:r>
              <a:rPr lang="de-DE" sz="1400" b="1" err="1">
                <a:solidFill>
                  <a:srgbClr val="1F6E7A"/>
                </a:solidFill>
                <a:latin typeface="Consolas"/>
                <a:cs typeface="Consolas"/>
              </a:rPr>
              <a:t>Sliding</a:t>
            </a:r>
            <a:r>
              <a:rPr lang="de-DE" sz="1400" b="1">
                <a:solidFill>
                  <a:srgbClr val="1F6E7A"/>
                </a:solidFill>
                <a:latin typeface="Consolas"/>
                <a:cs typeface="Consolas"/>
              </a:rPr>
              <a:t> </a:t>
            </a:r>
            <a:r>
              <a:rPr lang="de-DE" sz="1400" b="1" err="1">
                <a:solidFill>
                  <a:srgbClr val="1F6E7A"/>
                </a:solidFill>
                <a:latin typeface="Consolas"/>
                <a:cs typeface="Consolas"/>
              </a:rPr>
              <a:t>Window</a:t>
            </a:r>
            <a:r>
              <a:rPr lang="de-DE" sz="1400" b="1">
                <a:solidFill>
                  <a:srgbClr val="1F6E7A"/>
                </a:solidFill>
                <a:latin typeface="Consolas"/>
                <a:cs typeface="Consolas"/>
              </a:rPr>
              <a:t> (2 s, 50 %)</a:t>
            </a:r>
            <a:r>
              <a:rPr lang="de-DE" sz="1400">
                <a:solidFill>
                  <a:srgbClr val="6B6357"/>
                </a:solidFill>
                <a:latin typeface="Consolas"/>
                <a:cs typeface="Consolas"/>
              </a:rPr>
              <a:t>   →   </a:t>
            </a:r>
            <a:r>
              <a:rPr lang="de-DE" sz="1400">
                <a:solidFill>
                  <a:srgbClr val="23282E"/>
                </a:solidFill>
                <a:latin typeface="Consolas"/>
                <a:cs typeface="Consolas"/>
              </a:rPr>
              <a:t>81 Features</a:t>
            </a:r>
            <a:r>
              <a:rPr lang="de-DE" sz="1400">
                <a:solidFill>
                  <a:srgbClr val="6B6357"/>
                </a:solidFill>
                <a:latin typeface="Consolas"/>
                <a:cs typeface="Consolas"/>
              </a:rPr>
              <a:t>   →   </a:t>
            </a:r>
            <a:r>
              <a:rPr lang="de-DE" sz="1400" err="1">
                <a:solidFill>
                  <a:srgbClr val="23282E"/>
                </a:solidFill>
                <a:latin typeface="Consolas"/>
                <a:cs typeface="Consolas"/>
              </a:rPr>
              <a:t>GroupKFold</a:t>
            </a:r>
            <a:r>
              <a:rPr lang="de-DE" sz="1400">
                <a:solidFill>
                  <a:srgbClr val="23282E"/>
                </a:solidFill>
                <a:latin typeface="Consolas"/>
                <a:cs typeface="Consolas"/>
              </a:rPr>
              <a:t> (</a:t>
            </a:r>
            <a:r>
              <a:rPr lang="de-DE" sz="1400" err="1">
                <a:solidFill>
                  <a:srgbClr val="23282E"/>
                </a:solidFill>
                <a:latin typeface="Consolas"/>
                <a:cs typeface="Consolas"/>
              </a:rPr>
              <a:t>k</a:t>
            </a:r>
            <a:r>
              <a:rPr lang="de-DE" sz="1400">
                <a:solidFill>
                  <a:srgbClr val="23282E"/>
                </a:solidFill>
                <a:latin typeface="Consolas"/>
                <a:cs typeface="Consolas"/>
              </a:rPr>
              <a:t>=3)</a:t>
            </a:r>
            <a:r>
              <a:rPr lang="de-DE" sz="1400">
                <a:solidFill>
                  <a:srgbClr val="6B6357"/>
                </a:solidFill>
                <a:latin typeface="Consolas"/>
                <a:cs typeface="Consolas"/>
              </a:rPr>
              <a:t>   →   </a:t>
            </a:r>
            <a:r>
              <a:rPr lang="de-DE" sz="1400" b="1">
                <a:solidFill>
                  <a:srgbClr val="1F6E7A"/>
                </a:solidFill>
                <a:latin typeface="Consolas"/>
                <a:cs typeface="Consolas"/>
              </a:rPr>
              <a:t>Gradient Boosting</a:t>
            </a:r>
            <a:r>
              <a:rPr lang="de-DE" sz="1400">
                <a:solidFill>
                  <a:srgbClr val="6B6357"/>
                </a:solidFill>
                <a:latin typeface="Consolas"/>
                <a:cs typeface="Consolas"/>
              </a:rPr>
              <a:t>   →   </a:t>
            </a:r>
            <a:r>
              <a:rPr lang="de-DE" sz="1400" err="1">
                <a:solidFill>
                  <a:srgbClr val="23282E"/>
                </a:solidFill>
                <a:latin typeface="Consolas"/>
                <a:cs typeface="Consolas"/>
              </a:rPr>
              <a:t>model.pkl</a:t>
            </a:r>
            <a:endParaRPr lang="de-DE" sz="1400">
              <a:solidFill>
                <a:srgbClr val="23282E"/>
              </a:solidFill>
              <a:latin typeface="Consolas"/>
              <a:cs typeface="Consolas"/>
            </a:endParaRPr>
          </a:p>
        </p:txBody>
      </p:sp>
      <p:sp>
        <p:nvSpPr>
          <p:cNvPr id="506" name="sp506"/>
          <p:cNvSpPr/>
          <p:nvPr/>
        </p:nvSpPr>
        <p:spPr>
          <a:xfrm>
            <a:off x="914400" y="2895600"/>
            <a:ext cx="103632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182880" indent="-182880">
              <a:lnSpc>
                <a:spcPts val="1600"/>
              </a:lnSpc>
              <a:spcAft>
                <a:spcPts val="500"/>
              </a:spcAft>
              <a:buFont typeface="Arial"/>
              <a:buChar char="•"/>
            </a:pPr>
            <a:r>
              <a:rPr lang="de-DE" sz="1500" b="1">
                <a:solidFill>
                  <a:srgbClr val="2C5468"/>
                </a:solidFill>
                <a:latin typeface="Arial"/>
                <a:cs typeface="Arial"/>
              </a:rPr>
              <a:t>Fenster — </a:t>
            </a:r>
            <a:r>
              <a:rPr lang="de-DE" sz="1500">
                <a:solidFill>
                  <a:srgbClr val="23282E"/>
                </a:solidFill>
                <a:latin typeface="Arial"/>
                <a:cs typeface="Arial"/>
              </a:rPr>
              <a:t>Signal in 2-Sekunden-Häppchen schneiden; pro Häppchen wird genau EINE Aktivität vorhergesagt</a:t>
            </a:r>
          </a:p>
          <a:p>
            <a:pPr marL="182880" indent="-182880">
              <a:lnSpc>
                <a:spcPts val="1600"/>
              </a:lnSpc>
              <a:buFont typeface="Arial"/>
              <a:buChar char="•"/>
            </a:pPr>
            <a:r>
              <a:rPr lang="de-DE" sz="1500" b="1">
                <a:solidFill>
                  <a:srgbClr val="2C5468"/>
                </a:solidFill>
                <a:latin typeface="Arial"/>
                <a:cs typeface="Arial"/>
              </a:rPr>
              <a:t>81 Features — </a:t>
            </a:r>
            <a:r>
              <a:rPr lang="de-DE" sz="1500">
                <a:solidFill>
                  <a:srgbClr val="23282E"/>
                </a:solidFill>
                <a:latin typeface="Arial"/>
                <a:cs typeface="Arial"/>
              </a:rPr>
              <a:t>Mittelwert, Energie, Schrittfrequenz (FFT), Neigungsänderung … z. B. trennt die Schrittfrequenz Gehen (~1,8 Hz) von Laufen (~3 Hz)</a:t>
            </a:r>
          </a:p>
        </p:txBody>
      </p:sp>
      <p:sp>
        <p:nvSpPr>
          <p:cNvPr id="507" name="sp507"/>
          <p:cNvSpPr/>
          <p:nvPr/>
        </p:nvSpPr>
        <p:spPr>
          <a:xfrm>
            <a:off x="914400" y="38862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300" b="1" spc="120">
                <a:solidFill>
                  <a:srgbClr val="2C5468"/>
                </a:solidFill>
                <a:latin typeface="Consolas"/>
                <a:cs typeface="Consolas"/>
              </a:rPr>
              <a:t>CRISP-DM</a:t>
            </a:r>
          </a:p>
        </p:txBody>
      </p:sp>
      <p:sp>
        <p:nvSpPr>
          <p:cNvPr id="508" name="sp508"/>
          <p:cNvSpPr/>
          <p:nvPr/>
        </p:nvSpPr>
        <p:spPr>
          <a:xfrm>
            <a:off x="914400" y="4165600"/>
            <a:ext cx="10363200" cy="15240"/>
          </a:xfrm>
          <a:prstGeom prst="rect">
            <a:avLst/>
          </a:prstGeom>
          <a:solidFill>
            <a:srgbClr val="CBC4B6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509" name="sp509"/>
          <p:cNvSpPr/>
          <p:nvPr/>
        </p:nvSpPr>
        <p:spPr>
          <a:xfrm>
            <a:off x="1682750" y="4127500"/>
            <a:ext cx="88900" cy="88900"/>
          </a:xfrm>
          <a:prstGeom prst="ellipse">
            <a:avLst/>
          </a:prstGeom>
          <a:solidFill>
            <a:srgbClr val="2C5468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510" name="sp510"/>
          <p:cNvSpPr/>
          <p:nvPr/>
        </p:nvSpPr>
        <p:spPr>
          <a:xfrm>
            <a:off x="914400" y="4267200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800" b="1">
                <a:solidFill>
                  <a:srgbClr val="2C5468"/>
                </a:solidFill>
                <a:latin typeface="Georgia"/>
                <a:cs typeface="Georgia"/>
              </a:rPr>
              <a:t>01</a:t>
            </a:r>
          </a:p>
        </p:txBody>
      </p:sp>
      <p:sp>
        <p:nvSpPr>
          <p:cNvPr id="511" name="sp511"/>
          <p:cNvSpPr/>
          <p:nvPr/>
        </p:nvSpPr>
        <p:spPr>
          <a:xfrm>
            <a:off x="914400" y="4597400"/>
            <a:ext cx="1625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76200" bIns="0" anchor="t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de-DE" sz="1300" b="1">
                <a:solidFill>
                  <a:srgbClr val="23282E"/>
                </a:solidFill>
                <a:latin typeface="Arial"/>
                <a:cs typeface="Arial"/>
              </a:rPr>
              <a:t>Business Understanding</a:t>
            </a:r>
          </a:p>
          <a:p>
            <a:pPr>
              <a:lnSpc>
                <a:spcPts val="1380"/>
              </a:lnSpc>
              <a:buNone/>
            </a:pPr>
            <a:r>
              <a:rPr lang="de-DE" sz="1200">
                <a:solidFill>
                  <a:srgbClr val="6B6357"/>
                </a:solidFill>
                <a:latin typeface="Arial"/>
                <a:cs typeface="Arial"/>
              </a:rPr>
              <a:t>Forschungsfrage &amp; Zielsystem</a:t>
            </a:r>
          </a:p>
        </p:txBody>
      </p:sp>
      <p:sp>
        <p:nvSpPr>
          <p:cNvPr id="512" name="sp512"/>
          <p:cNvSpPr/>
          <p:nvPr/>
        </p:nvSpPr>
        <p:spPr>
          <a:xfrm>
            <a:off x="3409950" y="4127500"/>
            <a:ext cx="88900" cy="88900"/>
          </a:xfrm>
          <a:prstGeom prst="ellipse">
            <a:avLst/>
          </a:prstGeom>
          <a:solidFill>
            <a:srgbClr val="2C5468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513" name="sp513"/>
          <p:cNvSpPr/>
          <p:nvPr/>
        </p:nvSpPr>
        <p:spPr>
          <a:xfrm>
            <a:off x="2641600" y="4267200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800" b="1">
                <a:solidFill>
                  <a:srgbClr val="2C5468"/>
                </a:solidFill>
                <a:latin typeface="Georgia"/>
                <a:cs typeface="Georgia"/>
              </a:rPr>
              <a:t>02</a:t>
            </a:r>
          </a:p>
        </p:txBody>
      </p:sp>
      <p:sp>
        <p:nvSpPr>
          <p:cNvPr id="514" name="sp514"/>
          <p:cNvSpPr/>
          <p:nvPr/>
        </p:nvSpPr>
        <p:spPr>
          <a:xfrm>
            <a:off x="2641600" y="4597400"/>
            <a:ext cx="1625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76200" bIns="0" anchor="t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de-DE" sz="1300" b="1">
                <a:solidFill>
                  <a:srgbClr val="23282E"/>
                </a:solidFill>
                <a:latin typeface="Arial"/>
                <a:cs typeface="Arial"/>
              </a:rPr>
              <a:t>Data Understanding</a:t>
            </a:r>
          </a:p>
          <a:p>
            <a:pPr>
              <a:lnSpc>
                <a:spcPts val="1380"/>
              </a:lnSpc>
              <a:buNone/>
            </a:pPr>
            <a:r>
              <a:rPr lang="de-DE" sz="1200">
                <a:solidFill>
                  <a:srgbClr val="6B6357"/>
                </a:solidFill>
                <a:latin typeface="Arial"/>
                <a:cs typeface="Arial"/>
              </a:rPr>
              <a:t>Datenerhebung (Sensor Logger) + explorative Analyse</a:t>
            </a:r>
          </a:p>
        </p:txBody>
      </p:sp>
      <p:sp>
        <p:nvSpPr>
          <p:cNvPr id="515" name="sp515"/>
          <p:cNvSpPr/>
          <p:nvPr/>
        </p:nvSpPr>
        <p:spPr>
          <a:xfrm>
            <a:off x="5137150" y="4127500"/>
            <a:ext cx="88900" cy="88900"/>
          </a:xfrm>
          <a:prstGeom prst="ellipse">
            <a:avLst/>
          </a:prstGeom>
          <a:solidFill>
            <a:srgbClr val="2C5468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516" name="sp516"/>
          <p:cNvSpPr/>
          <p:nvPr/>
        </p:nvSpPr>
        <p:spPr>
          <a:xfrm>
            <a:off x="4368800" y="4267200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800" b="1">
                <a:solidFill>
                  <a:srgbClr val="2C5468"/>
                </a:solidFill>
                <a:latin typeface="Georgia"/>
                <a:cs typeface="Georgia"/>
              </a:rPr>
              <a:t>03</a:t>
            </a:r>
          </a:p>
        </p:txBody>
      </p:sp>
      <p:sp>
        <p:nvSpPr>
          <p:cNvPr id="517" name="sp517"/>
          <p:cNvSpPr/>
          <p:nvPr/>
        </p:nvSpPr>
        <p:spPr>
          <a:xfrm>
            <a:off x="4368800" y="4597400"/>
            <a:ext cx="1625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76200" bIns="0" anchor="t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de-DE" sz="1300" b="1">
                <a:solidFill>
                  <a:srgbClr val="23282E"/>
                </a:solidFill>
                <a:latin typeface="Arial"/>
                <a:cs typeface="Arial"/>
              </a:rPr>
              <a:t>Data Preparation</a:t>
            </a:r>
          </a:p>
          <a:p>
            <a:pPr>
              <a:lnSpc>
                <a:spcPts val="1380"/>
              </a:lnSpc>
              <a:buNone/>
            </a:pPr>
            <a:r>
              <a:rPr lang="de-DE" sz="1200">
                <a:solidFill>
                  <a:srgbClr val="6B6357"/>
                </a:solidFill>
                <a:latin typeface="Arial"/>
                <a:cs typeface="Arial"/>
              </a:rPr>
              <a:t>Windowing, 81 Features, Session-Split</a:t>
            </a:r>
          </a:p>
        </p:txBody>
      </p:sp>
      <p:sp>
        <p:nvSpPr>
          <p:cNvPr id="518" name="sp518"/>
          <p:cNvSpPr/>
          <p:nvPr/>
        </p:nvSpPr>
        <p:spPr>
          <a:xfrm>
            <a:off x="6864350" y="4127500"/>
            <a:ext cx="88900" cy="88900"/>
          </a:xfrm>
          <a:prstGeom prst="ellipse">
            <a:avLst/>
          </a:prstGeom>
          <a:solidFill>
            <a:srgbClr val="2C5468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519" name="sp519"/>
          <p:cNvSpPr/>
          <p:nvPr/>
        </p:nvSpPr>
        <p:spPr>
          <a:xfrm>
            <a:off x="6096000" y="4267200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800" b="1">
                <a:solidFill>
                  <a:srgbClr val="2C5468"/>
                </a:solidFill>
                <a:latin typeface="Georgia"/>
                <a:cs typeface="Georgia"/>
              </a:rPr>
              <a:t>04</a:t>
            </a:r>
          </a:p>
        </p:txBody>
      </p:sp>
      <p:sp>
        <p:nvSpPr>
          <p:cNvPr id="520" name="sp520"/>
          <p:cNvSpPr/>
          <p:nvPr/>
        </p:nvSpPr>
        <p:spPr>
          <a:xfrm>
            <a:off x="6096000" y="4597400"/>
            <a:ext cx="1625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76200" bIns="0" anchor="t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de-DE" sz="1300" b="1">
                <a:solidFill>
                  <a:srgbClr val="23282E"/>
                </a:solidFill>
                <a:latin typeface="Arial"/>
                <a:cs typeface="Arial"/>
              </a:rPr>
              <a:t>Modeling</a:t>
            </a:r>
          </a:p>
          <a:p>
            <a:pPr>
              <a:lnSpc>
                <a:spcPts val="1380"/>
              </a:lnSpc>
              <a:buNone/>
            </a:pPr>
            <a:r>
              <a:rPr lang="de-DE" sz="1200">
                <a:solidFill>
                  <a:srgbClr val="6B6357"/>
                </a:solidFill>
                <a:latin typeface="Arial"/>
                <a:cs typeface="Arial"/>
              </a:rPr>
              <a:t>7 Modelle + Voting, GroupKFold-CV, Tuning</a:t>
            </a:r>
          </a:p>
        </p:txBody>
      </p:sp>
      <p:sp>
        <p:nvSpPr>
          <p:cNvPr id="521" name="sp521"/>
          <p:cNvSpPr/>
          <p:nvPr/>
        </p:nvSpPr>
        <p:spPr>
          <a:xfrm>
            <a:off x="8591550" y="4127500"/>
            <a:ext cx="88900" cy="88900"/>
          </a:xfrm>
          <a:prstGeom prst="ellipse">
            <a:avLst/>
          </a:prstGeom>
          <a:solidFill>
            <a:srgbClr val="2C5468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522" name="sp522"/>
          <p:cNvSpPr/>
          <p:nvPr/>
        </p:nvSpPr>
        <p:spPr>
          <a:xfrm>
            <a:off x="7823200" y="4267200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800" b="1">
                <a:solidFill>
                  <a:srgbClr val="2C5468"/>
                </a:solidFill>
                <a:latin typeface="Georgia"/>
                <a:cs typeface="Georgia"/>
              </a:rPr>
              <a:t>05</a:t>
            </a:r>
          </a:p>
        </p:txBody>
      </p:sp>
      <p:sp>
        <p:nvSpPr>
          <p:cNvPr id="523" name="sp523"/>
          <p:cNvSpPr/>
          <p:nvPr/>
        </p:nvSpPr>
        <p:spPr>
          <a:xfrm>
            <a:off x="7823200" y="4597400"/>
            <a:ext cx="1625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76200" bIns="0" anchor="t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de-DE" sz="1300" b="1">
                <a:solidFill>
                  <a:srgbClr val="23282E"/>
                </a:solidFill>
                <a:latin typeface="Arial"/>
                <a:cs typeface="Arial"/>
              </a:rPr>
              <a:t>Evaluation</a:t>
            </a:r>
          </a:p>
          <a:p>
            <a:pPr>
              <a:lnSpc>
                <a:spcPts val="1380"/>
              </a:lnSpc>
              <a:buNone/>
            </a:pPr>
            <a:r>
              <a:rPr lang="de-DE" sz="1200">
                <a:solidFill>
                  <a:srgbClr val="6B6357"/>
                </a:solidFill>
                <a:latin typeface="Arial"/>
                <a:cs typeface="Arial"/>
              </a:rPr>
              <a:t>Test-Set, Mixed-Eval (F1 ≈ 0,87), Bias-Analyse</a:t>
            </a:r>
          </a:p>
        </p:txBody>
      </p:sp>
      <p:sp>
        <p:nvSpPr>
          <p:cNvPr id="524" name="sp524"/>
          <p:cNvSpPr/>
          <p:nvPr/>
        </p:nvSpPr>
        <p:spPr>
          <a:xfrm>
            <a:off x="10318750" y="4127500"/>
            <a:ext cx="88900" cy="88900"/>
          </a:xfrm>
          <a:prstGeom prst="ellipse">
            <a:avLst/>
          </a:prstGeom>
          <a:solidFill>
            <a:srgbClr val="2C5468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525" name="sp525"/>
          <p:cNvSpPr/>
          <p:nvPr/>
        </p:nvSpPr>
        <p:spPr>
          <a:xfrm>
            <a:off x="9550400" y="4267200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de-DE" sz="1800" b="1">
                <a:solidFill>
                  <a:srgbClr val="2C5468"/>
                </a:solidFill>
                <a:latin typeface="Georgia"/>
                <a:cs typeface="Georgia"/>
              </a:rPr>
              <a:t>06</a:t>
            </a:r>
          </a:p>
        </p:txBody>
      </p:sp>
      <p:sp>
        <p:nvSpPr>
          <p:cNvPr id="526" name="sp526"/>
          <p:cNvSpPr/>
          <p:nvPr/>
        </p:nvSpPr>
        <p:spPr>
          <a:xfrm>
            <a:off x="9550400" y="4597400"/>
            <a:ext cx="1625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76200" bIns="0" anchor="t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de-DE" sz="1300" b="1">
                <a:solidFill>
                  <a:srgbClr val="23282E"/>
                </a:solidFill>
                <a:latin typeface="Arial"/>
                <a:cs typeface="Arial"/>
              </a:rPr>
              <a:t>Deployment</a:t>
            </a:r>
          </a:p>
          <a:p>
            <a:pPr>
              <a:lnSpc>
                <a:spcPts val="1380"/>
              </a:lnSpc>
              <a:buNone/>
            </a:pPr>
            <a:r>
              <a:rPr lang="de-DE" sz="1200">
                <a:solidFill>
                  <a:srgbClr val="6B6357"/>
                </a:solidFill>
                <a:latin typeface="Arial"/>
                <a:cs typeface="Arial"/>
              </a:rPr>
              <a:t>Streamlit-Web-App</a:t>
            </a:r>
          </a:p>
        </p:txBody>
      </p:sp>
      <p:sp>
        <p:nvSpPr>
          <p:cNvPr id="561" name="loopDrop"/>
          <p:cNvSpPr/>
          <p:nvPr/>
        </p:nvSpPr>
        <p:spPr>
          <a:xfrm>
            <a:off x="8616950" y="5956300"/>
            <a:ext cx="38100" cy="215900"/>
          </a:xfrm>
          <a:prstGeom prst="rect">
            <a:avLst/>
          </a:prstGeom>
          <a:solidFill>
            <a:srgbClr val="A8443C"/>
          </a:solidFill>
          <a:ln>
            <a:noFill/>
          </a:ln>
        </p:spPr>
        <p:txBody>
          <a:bodyPr wrap="square" lIns="0" tIns="0" rIns="0" bIns="0" anchor="t">
            <a:normAutofit fontScale="92500" lnSpcReduction="20000"/>
          </a:bodyPr>
          <a:lstStyle/>
          <a:p>
            <a:endParaRPr lang="de-DE"/>
          </a:p>
        </p:txBody>
      </p:sp>
      <p:sp>
        <p:nvSpPr>
          <p:cNvPr id="562" name="loopWire"/>
          <p:cNvSpPr/>
          <p:nvPr/>
        </p:nvSpPr>
        <p:spPr>
          <a:xfrm>
            <a:off x="5181600" y="6134100"/>
            <a:ext cx="3454400" cy="38100"/>
          </a:xfrm>
          <a:prstGeom prst="rect">
            <a:avLst/>
          </a:prstGeom>
          <a:solidFill>
            <a:srgbClr val="A8443C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563" name="loopHead"/>
          <p:cNvSpPr/>
          <p:nvPr/>
        </p:nvSpPr>
        <p:spPr>
          <a:xfrm>
            <a:off x="5092700" y="5918200"/>
            <a:ext cx="177800" cy="254000"/>
          </a:xfrm>
          <a:prstGeom prst="upArrow">
            <a:avLst/>
          </a:prstGeom>
          <a:solidFill>
            <a:srgbClr val="A8443C"/>
          </a:solidFill>
          <a:ln>
            <a:noFill/>
          </a:ln>
        </p:spPr>
        <p:txBody>
          <a:bodyPr wrap="square" lIns="0" tIns="0" rIns="0" bIns="0" anchor="t">
            <a:normAutofit fontScale="85000" lnSpcReduction="10000"/>
          </a:bodyPr>
          <a:lstStyle/>
          <a:p>
            <a:endParaRPr lang="de-DE"/>
          </a:p>
        </p:txBody>
      </p:sp>
      <p:sp>
        <p:nvSpPr>
          <p:cNvPr id="564" name="loopLabel"/>
          <p:cNvSpPr/>
          <p:nvPr/>
        </p:nvSpPr>
        <p:spPr>
          <a:xfrm>
            <a:off x="3556000" y="63373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de-DE" sz="1400" i="1">
                <a:solidFill>
                  <a:srgbClr val="A8443C"/>
                </a:solidFill>
                <a:latin typeface="Georgia"/>
                <a:cs typeface="Georgia"/>
              </a:rPr>
              <a:t>Iteration: Data Leakage &amp; Stehen-Recall 0 % → zurück zu Data Preparation</a:t>
            </a:r>
          </a:p>
        </p:txBody>
      </p:sp>
    </p:spTree>
    <p:extLst>
      <p:ext uri="{BB962C8B-B14F-4D97-AF65-F5344CB8AC3E}">
        <p14:creationId xmlns:p14="http://schemas.microsoft.com/office/powerpoint/2010/main" val="2089408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2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b="1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VORGEHENSWEISE</a:t>
            </a:r>
          </a:p>
        </p:txBody>
      </p:sp>
      <p:sp>
        <p:nvSpPr>
          <p:cNvPr id="103" name="T104"/>
          <p:cNvSpPr/>
          <p:nvPr/>
        </p:nvSpPr>
        <p:spPr>
          <a:xfrm>
            <a:off x="548640" y="585216"/>
            <a:ext cx="10113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2700" b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Rohdaten zum Modell</a:t>
            </a:r>
          </a:p>
        </p:txBody>
      </p:sp>
      <p:sp>
        <p:nvSpPr>
          <p:cNvPr id="105" name="T106"/>
          <p:cNvSpPr/>
          <p:nvPr/>
        </p:nvSpPr>
        <p:spPr>
          <a:xfrm>
            <a:off x="548640" y="12252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000" b="1">
                <a:solidFill>
                  <a:srgbClr val="5E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CRISP-DM · METHODISCHER RAHMEN</a:t>
            </a:r>
          </a:p>
        </p:txBody>
      </p:sp>
      <p:sp>
        <p:nvSpPr>
          <p:cNvPr id="107" name="S108"/>
          <p:cNvSpPr/>
          <p:nvPr/>
        </p:nvSpPr>
        <p:spPr>
          <a:xfrm>
            <a:off x="566928" y="1517904"/>
            <a:ext cx="1759458" cy="457200"/>
          </a:xfrm>
          <a:prstGeom prst="roundRect">
            <a:avLst>
              <a:gd name="adj" fmla="val 16000"/>
            </a:avLst>
          </a:prstGeom>
          <a:solidFill>
            <a:srgbClr val="1FB6C1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9" name="T110"/>
          <p:cNvSpPr/>
          <p:nvPr/>
        </p:nvSpPr>
        <p:spPr>
          <a:xfrm>
            <a:off x="603504" y="1517904"/>
            <a:ext cx="16863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de-DE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BUSINESS</a:t>
            </a:r>
          </a:p>
          <a:p>
            <a:pPr marL="0" indent="0" algn="ctr">
              <a:lnSpc>
                <a:spcPct val="96000"/>
              </a:lnSpc>
              <a:buNone/>
            </a:pPr>
            <a:r>
              <a:rPr lang="de-DE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</a:p>
        </p:txBody>
      </p:sp>
      <p:sp>
        <p:nvSpPr>
          <p:cNvPr id="111" name="S112"/>
          <p:cNvSpPr/>
          <p:nvPr/>
        </p:nvSpPr>
        <p:spPr>
          <a:xfrm>
            <a:off x="2436114" y="1517904"/>
            <a:ext cx="1759458" cy="457200"/>
          </a:xfrm>
          <a:prstGeom prst="roundRect">
            <a:avLst>
              <a:gd name="adj" fmla="val 16000"/>
            </a:avLst>
          </a:prstGeom>
          <a:solidFill>
            <a:srgbClr val="1FB6C1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3" name="T114"/>
          <p:cNvSpPr/>
          <p:nvPr/>
        </p:nvSpPr>
        <p:spPr>
          <a:xfrm>
            <a:off x="2472690" y="1517904"/>
            <a:ext cx="16863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de-DE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</a:t>
            </a:r>
          </a:p>
          <a:p>
            <a:pPr marL="0" indent="0" algn="ctr">
              <a:lnSpc>
                <a:spcPct val="96000"/>
              </a:lnSpc>
              <a:buNone/>
            </a:pPr>
            <a:r>
              <a:rPr lang="de-DE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</a:p>
        </p:txBody>
      </p:sp>
      <p:sp>
        <p:nvSpPr>
          <p:cNvPr id="115" name="S116"/>
          <p:cNvSpPr/>
          <p:nvPr/>
        </p:nvSpPr>
        <p:spPr>
          <a:xfrm>
            <a:off x="4305300" y="1517904"/>
            <a:ext cx="1759458" cy="457200"/>
          </a:xfrm>
          <a:prstGeom prst="roundRect">
            <a:avLst>
              <a:gd name="adj" fmla="val 16000"/>
            </a:avLst>
          </a:prstGeom>
          <a:solidFill>
            <a:srgbClr val="1FB6C1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7" name="T118"/>
          <p:cNvSpPr/>
          <p:nvPr/>
        </p:nvSpPr>
        <p:spPr>
          <a:xfrm>
            <a:off x="4341876" y="1517904"/>
            <a:ext cx="16863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de-DE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DATA</a:t>
            </a:r>
          </a:p>
          <a:p>
            <a:pPr marL="0" indent="0" algn="ctr">
              <a:lnSpc>
                <a:spcPct val="96000"/>
              </a:lnSpc>
              <a:buNone/>
            </a:pPr>
            <a:r>
              <a:rPr lang="de-DE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</a:p>
        </p:txBody>
      </p:sp>
      <p:sp>
        <p:nvSpPr>
          <p:cNvPr id="119" name="S120"/>
          <p:cNvSpPr/>
          <p:nvPr/>
        </p:nvSpPr>
        <p:spPr>
          <a:xfrm>
            <a:off x="6174486" y="1517904"/>
            <a:ext cx="1759458" cy="457200"/>
          </a:xfrm>
          <a:prstGeom prst="roundRect">
            <a:avLst>
              <a:gd name="adj" fmla="val 16000"/>
            </a:avLst>
          </a:prstGeom>
          <a:solidFill>
            <a:srgbClr val="1FB6C1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1" name="T122"/>
          <p:cNvSpPr/>
          <p:nvPr/>
        </p:nvSpPr>
        <p:spPr>
          <a:xfrm>
            <a:off x="6211062" y="1517904"/>
            <a:ext cx="16863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de-DE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MODELING</a:t>
            </a:r>
          </a:p>
        </p:txBody>
      </p:sp>
      <p:sp>
        <p:nvSpPr>
          <p:cNvPr id="123" name="S124"/>
          <p:cNvSpPr/>
          <p:nvPr/>
        </p:nvSpPr>
        <p:spPr>
          <a:xfrm>
            <a:off x="8043672" y="1517904"/>
            <a:ext cx="1759458" cy="457200"/>
          </a:xfrm>
          <a:prstGeom prst="roundRect">
            <a:avLst>
              <a:gd name="adj" fmla="val 16000"/>
            </a:avLst>
          </a:prstGeom>
          <a:solidFill>
            <a:srgbClr val="1FB6C1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5" name="T126"/>
          <p:cNvSpPr/>
          <p:nvPr/>
        </p:nvSpPr>
        <p:spPr>
          <a:xfrm>
            <a:off x="8080248" y="1517904"/>
            <a:ext cx="16863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de-DE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EVALUATION</a:t>
            </a:r>
          </a:p>
        </p:txBody>
      </p:sp>
      <p:sp>
        <p:nvSpPr>
          <p:cNvPr id="127" name="S128"/>
          <p:cNvSpPr/>
          <p:nvPr/>
        </p:nvSpPr>
        <p:spPr>
          <a:xfrm>
            <a:off x="9912858" y="1517904"/>
            <a:ext cx="1759458" cy="457200"/>
          </a:xfrm>
          <a:prstGeom prst="roundRect">
            <a:avLst>
              <a:gd name="adj" fmla="val 16000"/>
            </a:avLst>
          </a:prstGeom>
          <a:solidFill>
            <a:srgbClr val="1FB6C1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9" name="T130"/>
          <p:cNvSpPr/>
          <p:nvPr/>
        </p:nvSpPr>
        <p:spPr>
          <a:xfrm>
            <a:off x="9949434" y="1517904"/>
            <a:ext cx="16863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de-DE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DEPLOYMENT</a:t>
            </a:r>
          </a:p>
        </p:txBody>
      </p:sp>
      <p:sp>
        <p:nvSpPr>
          <p:cNvPr id="131" name="T132"/>
          <p:cNvSpPr/>
          <p:nvPr/>
        </p:nvSpPr>
        <p:spPr>
          <a:xfrm>
            <a:off x="2346137" y="1517904"/>
            <a:ext cx="98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100" b="1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</a:p>
        </p:txBody>
      </p:sp>
      <p:sp>
        <p:nvSpPr>
          <p:cNvPr id="133" name="T134"/>
          <p:cNvSpPr/>
          <p:nvPr/>
        </p:nvSpPr>
        <p:spPr>
          <a:xfrm>
            <a:off x="4215323" y="1517904"/>
            <a:ext cx="98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100" b="1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</a:p>
        </p:txBody>
      </p:sp>
      <p:sp>
        <p:nvSpPr>
          <p:cNvPr id="135" name="T136"/>
          <p:cNvSpPr/>
          <p:nvPr/>
        </p:nvSpPr>
        <p:spPr>
          <a:xfrm>
            <a:off x="6084509" y="1517904"/>
            <a:ext cx="98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100" b="1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</a:p>
        </p:txBody>
      </p:sp>
      <p:sp>
        <p:nvSpPr>
          <p:cNvPr id="137" name="T138"/>
          <p:cNvSpPr/>
          <p:nvPr/>
        </p:nvSpPr>
        <p:spPr>
          <a:xfrm>
            <a:off x="7953695" y="1517904"/>
            <a:ext cx="98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100" b="1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</a:p>
        </p:txBody>
      </p:sp>
      <p:sp>
        <p:nvSpPr>
          <p:cNvPr id="139" name="T140"/>
          <p:cNvSpPr/>
          <p:nvPr/>
        </p:nvSpPr>
        <p:spPr>
          <a:xfrm>
            <a:off x="9822881" y="1517904"/>
            <a:ext cx="98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100" b="1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</a:p>
        </p:txBody>
      </p:sp>
      <p:sp>
        <p:nvSpPr>
          <p:cNvPr id="141" name="T142"/>
          <p:cNvSpPr/>
          <p:nvPr/>
        </p:nvSpPr>
        <p:spPr>
          <a:xfrm>
            <a:off x="585216" y="1988820"/>
            <a:ext cx="1722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de-DE" sz="60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Forschungsfrage HAR · Wearables / Medizintechnik</a:t>
            </a:r>
          </a:p>
        </p:txBody>
      </p:sp>
      <p:sp>
        <p:nvSpPr>
          <p:cNvPr id="143" name="T144"/>
          <p:cNvSpPr/>
          <p:nvPr/>
        </p:nvSpPr>
        <p:spPr>
          <a:xfrm>
            <a:off x="2454402" y="1988820"/>
            <a:ext cx="1722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de-DE" sz="60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Sessions · 6 Klassen · 3.621 Fenster · 61/100 Hz</a:t>
            </a:r>
          </a:p>
        </p:txBody>
      </p:sp>
      <p:sp>
        <p:nvSpPr>
          <p:cNvPr id="145" name="T146"/>
          <p:cNvSpPr/>
          <p:nvPr/>
        </p:nvSpPr>
        <p:spPr>
          <a:xfrm>
            <a:off x="4323588" y="1988820"/>
            <a:ext cx="1722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de-DE" sz="60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· Resample · Trim · Window 50 % · Features · Split</a:t>
            </a:r>
          </a:p>
        </p:txBody>
      </p:sp>
      <p:sp>
        <p:nvSpPr>
          <p:cNvPr id="147" name="T148"/>
          <p:cNvSpPr/>
          <p:nvPr/>
        </p:nvSpPr>
        <p:spPr>
          <a:xfrm>
            <a:off x="6192774" y="1988820"/>
            <a:ext cx="1722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de-DE" sz="60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Klassifikatoren · GroupKFold k=3 · RandomizedSearchCV</a:t>
            </a:r>
          </a:p>
        </p:txBody>
      </p:sp>
      <p:sp>
        <p:nvSpPr>
          <p:cNvPr id="149" name="T150"/>
          <p:cNvSpPr/>
          <p:nvPr/>
        </p:nvSpPr>
        <p:spPr>
          <a:xfrm>
            <a:off x="8061960" y="1988820"/>
            <a:ext cx="1722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de-DE" sz="60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CV-F1 · Konfusionsmatrix · Per-Klasse · Bias-Analyse</a:t>
            </a:r>
          </a:p>
        </p:txBody>
      </p:sp>
      <p:sp>
        <p:nvSpPr>
          <p:cNvPr id="151" name="T152"/>
          <p:cNvSpPr/>
          <p:nvPr/>
        </p:nvSpPr>
        <p:spPr>
          <a:xfrm>
            <a:off x="9931146" y="1988820"/>
            <a:ext cx="1722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de-DE" sz="60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Streamlit-Web-App</a:t>
            </a:r>
          </a:p>
        </p:txBody>
      </p:sp>
      <p:sp>
        <p:nvSpPr>
          <p:cNvPr id="153" name="S154"/>
          <p:cNvSpPr/>
          <p:nvPr/>
        </p:nvSpPr>
        <p:spPr>
          <a:xfrm>
            <a:off x="566928" y="2432304"/>
            <a:ext cx="1280160" cy="768096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5" name="T156"/>
          <p:cNvSpPr/>
          <p:nvPr/>
        </p:nvSpPr>
        <p:spPr>
          <a:xfrm>
            <a:off x="566928" y="2432304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de-DE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CSV</a:t>
            </a:r>
          </a:p>
        </p:txBody>
      </p:sp>
      <p:sp>
        <p:nvSpPr>
          <p:cNvPr id="157" name="T158"/>
          <p:cNvSpPr/>
          <p:nvPr/>
        </p:nvSpPr>
        <p:spPr>
          <a:xfrm>
            <a:off x="1847088" y="2432304"/>
            <a:ext cx="1691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400">
                <a:solidFill>
                  <a:srgbClr val="5E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</a:p>
        </p:txBody>
      </p:sp>
      <p:sp>
        <p:nvSpPr>
          <p:cNvPr id="159" name="S160"/>
          <p:cNvSpPr/>
          <p:nvPr/>
        </p:nvSpPr>
        <p:spPr>
          <a:xfrm>
            <a:off x="2016252" y="2432304"/>
            <a:ext cx="1280160" cy="768096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1" name="T162"/>
          <p:cNvSpPr/>
          <p:nvPr/>
        </p:nvSpPr>
        <p:spPr>
          <a:xfrm>
            <a:off x="2016252" y="2432304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de-DE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</a:p>
          <a:p>
            <a:pPr marL="0" indent="0" algn="ctr">
              <a:lnSpc>
                <a:spcPct val="92000"/>
              </a:lnSpc>
              <a:buNone/>
            </a:pPr>
            <a:r>
              <a:rPr lang="de-DE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ms</a:t>
            </a:r>
          </a:p>
        </p:txBody>
      </p:sp>
      <p:sp>
        <p:nvSpPr>
          <p:cNvPr id="163" name="T164"/>
          <p:cNvSpPr/>
          <p:nvPr/>
        </p:nvSpPr>
        <p:spPr>
          <a:xfrm>
            <a:off x="3296412" y="2432304"/>
            <a:ext cx="1691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400">
                <a:solidFill>
                  <a:srgbClr val="5E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</a:p>
        </p:txBody>
      </p:sp>
      <p:sp>
        <p:nvSpPr>
          <p:cNvPr id="165" name="S166"/>
          <p:cNvSpPr/>
          <p:nvPr/>
        </p:nvSpPr>
        <p:spPr>
          <a:xfrm>
            <a:off x="3465576" y="2432304"/>
            <a:ext cx="1280160" cy="768096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7" name="T168"/>
          <p:cNvSpPr/>
          <p:nvPr/>
        </p:nvSpPr>
        <p:spPr>
          <a:xfrm>
            <a:off x="3465576" y="2432304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de-DE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Resample</a:t>
            </a:r>
          </a:p>
          <a:p>
            <a:pPr marL="0" indent="0" algn="ctr">
              <a:lnSpc>
                <a:spcPct val="92000"/>
              </a:lnSpc>
              <a:buNone/>
            </a:pPr>
            <a:r>
              <a:rPr lang="de-DE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 Hz</a:t>
            </a:r>
          </a:p>
        </p:txBody>
      </p:sp>
      <p:sp>
        <p:nvSpPr>
          <p:cNvPr id="169" name="T170"/>
          <p:cNvSpPr/>
          <p:nvPr/>
        </p:nvSpPr>
        <p:spPr>
          <a:xfrm>
            <a:off x="4745736" y="2432304"/>
            <a:ext cx="1691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400">
                <a:solidFill>
                  <a:srgbClr val="5E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</a:p>
        </p:txBody>
      </p:sp>
      <p:sp>
        <p:nvSpPr>
          <p:cNvPr id="171" name="S172"/>
          <p:cNvSpPr/>
          <p:nvPr/>
        </p:nvSpPr>
        <p:spPr>
          <a:xfrm>
            <a:off x="4914900" y="2432304"/>
            <a:ext cx="1280160" cy="768096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3" name="T174"/>
          <p:cNvSpPr/>
          <p:nvPr/>
        </p:nvSpPr>
        <p:spPr>
          <a:xfrm>
            <a:off x="4914900" y="2432304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de-DE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 2 s</a:t>
            </a:r>
          </a:p>
          <a:p>
            <a:pPr marL="0" indent="0" algn="ctr">
              <a:lnSpc>
                <a:spcPct val="92000"/>
              </a:lnSpc>
              <a:buNone/>
            </a:pPr>
            <a:r>
              <a:rPr lang="de-DE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Gap-Check</a:t>
            </a:r>
          </a:p>
        </p:txBody>
      </p:sp>
      <p:sp>
        <p:nvSpPr>
          <p:cNvPr id="175" name="T176"/>
          <p:cNvSpPr/>
          <p:nvPr/>
        </p:nvSpPr>
        <p:spPr>
          <a:xfrm>
            <a:off x="6195060" y="2432304"/>
            <a:ext cx="1691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400">
                <a:solidFill>
                  <a:srgbClr val="5E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</a:p>
        </p:txBody>
      </p:sp>
      <p:sp>
        <p:nvSpPr>
          <p:cNvPr id="177" name="S178"/>
          <p:cNvSpPr/>
          <p:nvPr/>
        </p:nvSpPr>
        <p:spPr>
          <a:xfrm>
            <a:off x="6364224" y="2432304"/>
            <a:ext cx="1280160" cy="768096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9" name="T180"/>
          <p:cNvSpPr/>
          <p:nvPr/>
        </p:nvSpPr>
        <p:spPr>
          <a:xfrm>
            <a:off x="6364224" y="2432304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de-DE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Sliding</a:t>
            </a:r>
          </a:p>
          <a:p>
            <a:pPr marL="0" indent="0" algn="ctr">
              <a:lnSpc>
                <a:spcPct val="92000"/>
              </a:lnSpc>
              <a:buNone/>
            </a:pPr>
            <a:r>
              <a:rPr lang="de-DE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 2 s</a:t>
            </a:r>
          </a:p>
        </p:txBody>
      </p:sp>
      <p:sp>
        <p:nvSpPr>
          <p:cNvPr id="181" name="T182"/>
          <p:cNvSpPr/>
          <p:nvPr/>
        </p:nvSpPr>
        <p:spPr>
          <a:xfrm>
            <a:off x="7644384" y="2432304"/>
            <a:ext cx="1691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400">
                <a:solidFill>
                  <a:srgbClr val="5E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</a:p>
        </p:txBody>
      </p:sp>
      <p:sp>
        <p:nvSpPr>
          <p:cNvPr id="183" name="S184"/>
          <p:cNvSpPr/>
          <p:nvPr/>
        </p:nvSpPr>
        <p:spPr>
          <a:xfrm>
            <a:off x="7813548" y="2432304"/>
            <a:ext cx="1280160" cy="768096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5" name="T186"/>
          <p:cNvSpPr/>
          <p:nvPr/>
        </p:nvSpPr>
        <p:spPr>
          <a:xfrm>
            <a:off x="7813548" y="2432304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de-DE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</a:t>
            </a:r>
          </a:p>
          <a:p>
            <a:pPr marL="0" indent="0" algn="ctr">
              <a:lnSpc>
                <a:spcPct val="92000"/>
              </a:lnSpc>
              <a:buNone/>
            </a:pPr>
            <a:r>
              <a:rPr lang="de-DE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</a:p>
        </p:txBody>
      </p:sp>
      <p:sp>
        <p:nvSpPr>
          <p:cNvPr id="187" name="T188"/>
          <p:cNvSpPr/>
          <p:nvPr/>
        </p:nvSpPr>
        <p:spPr>
          <a:xfrm>
            <a:off x="9093708" y="2432304"/>
            <a:ext cx="1691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400">
                <a:solidFill>
                  <a:srgbClr val="5E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</a:p>
        </p:txBody>
      </p:sp>
      <p:sp>
        <p:nvSpPr>
          <p:cNvPr id="189" name="S190"/>
          <p:cNvSpPr/>
          <p:nvPr/>
        </p:nvSpPr>
        <p:spPr>
          <a:xfrm>
            <a:off x="9262872" y="2432304"/>
            <a:ext cx="1280160" cy="768096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1" name="T192"/>
          <p:cNvSpPr/>
          <p:nvPr/>
        </p:nvSpPr>
        <p:spPr>
          <a:xfrm>
            <a:off x="9262872" y="2432304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de-DE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GroupKFold</a:t>
            </a:r>
          </a:p>
          <a:p>
            <a:pPr marL="0" indent="0" algn="ctr">
              <a:lnSpc>
                <a:spcPct val="92000"/>
              </a:lnSpc>
              <a:buNone/>
            </a:pPr>
            <a:r>
              <a:rPr lang="de-DE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3</a:t>
            </a:r>
          </a:p>
        </p:txBody>
      </p:sp>
      <p:sp>
        <p:nvSpPr>
          <p:cNvPr id="193" name="T194"/>
          <p:cNvSpPr/>
          <p:nvPr/>
        </p:nvSpPr>
        <p:spPr>
          <a:xfrm>
            <a:off x="10543032" y="2432304"/>
            <a:ext cx="1691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400">
                <a:solidFill>
                  <a:srgbClr val="5E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</a:p>
        </p:txBody>
      </p:sp>
      <p:sp>
        <p:nvSpPr>
          <p:cNvPr id="195" name="S196"/>
          <p:cNvSpPr/>
          <p:nvPr/>
        </p:nvSpPr>
        <p:spPr>
          <a:xfrm>
            <a:off x="10712196" y="2432304"/>
            <a:ext cx="1280160" cy="768096"/>
          </a:xfrm>
          <a:prstGeom prst="roundRect">
            <a:avLst>
              <a:gd name="adj" fmla="val 9783"/>
            </a:avLst>
          </a:prstGeom>
          <a:solidFill>
            <a:srgbClr val="F4A23B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7" name="T198"/>
          <p:cNvSpPr/>
          <p:nvPr/>
        </p:nvSpPr>
        <p:spPr>
          <a:xfrm>
            <a:off x="10712196" y="2432304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de-DE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</a:t>
            </a:r>
          </a:p>
          <a:p>
            <a:pPr marL="0" indent="0" algn="ctr">
              <a:lnSpc>
                <a:spcPct val="92000"/>
              </a:lnSpc>
              <a:buNone/>
            </a:pPr>
            <a:r>
              <a:rPr lang="de-DE" sz="930" b="1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Boosting</a:t>
            </a:r>
          </a:p>
        </p:txBody>
      </p:sp>
      <p:sp>
        <p:nvSpPr>
          <p:cNvPr id="199" name="T200"/>
          <p:cNvSpPr/>
          <p:nvPr/>
        </p:nvSpPr>
        <p:spPr>
          <a:xfrm>
            <a:off x="10437876" y="32186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sz="850">
                <a:solidFill>
                  <a:srgbClr val="5E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model.pkl</a:t>
            </a:r>
          </a:p>
        </p:txBody>
      </p:sp>
      <p:sp>
        <p:nvSpPr>
          <p:cNvPr id="201" name="L202"/>
          <p:cNvSpPr/>
          <p:nvPr/>
        </p:nvSpPr>
        <p:spPr>
          <a:xfrm flipV="1">
            <a:off x="5185029" y="1499616"/>
            <a:ext cx="0" cy="77724"/>
          </a:xfrm>
          <a:prstGeom prst="line">
            <a:avLst/>
          </a:prstGeom>
          <a:noFill/>
          <a:ln w="19050">
            <a:solidFill>
              <a:srgbClr val="F4A2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" name="L204"/>
          <p:cNvSpPr/>
          <p:nvPr/>
        </p:nvSpPr>
        <p:spPr>
          <a:xfrm flipV="1">
            <a:off x="8923401" y="1499616"/>
            <a:ext cx="0" cy="77724"/>
          </a:xfrm>
          <a:prstGeom prst="line">
            <a:avLst/>
          </a:prstGeom>
          <a:noFill/>
          <a:ln w="19050">
            <a:solidFill>
              <a:srgbClr val="F4A2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" name="L206"/>
          <p:cNvSpPr/>
          <p:nvPr/>
        </p:nvSpPr>
        <p:spPr>
          <a:xfrm>
            <a:off x="5185029" y="1421892"/>
            <a:ext cx="3738372" cy="0"/>
          </a:xfrm>
          <a:prstGeom prst="line">
            <a:avLst/>
          </a:prstGeom>
          <a:noFill/>
          <a:ln w="19050">
            <a:solidFill>
              <a:srgbClr val="F4A23B"/>
            </a:solidFill>
            <a:prstDash val="solid"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207" name="T208"/>
          <p:cNvSpPr/>
          <p:nvPr/>
        </p:nvSpPr>
        <p:spPr>
          <a:xfrm>
            <a:off x="5185029" y="1197864"/>
            <a:ext cx="37383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de-DE" sz="750" b="1">
                <a:solidFill>
                  <a:srgbClr val="C7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Iterative Rückkopplung · CRISP-DM-Schleife</a:t>
            </a:r>
          </a:p>
        </p:txBody>
      </p:sp>
      <p:sp>
        <p:nvSpPr>
          <p:cNvPr id="209" name="L210"/>
          <p:cNvSpPr/>
          <p:nvPr/>
        </p:nvSpPr>
        <p:spPr>
          <a:xfrm>
            <a:off x="7004304" y="3200400"/>
            <a:ext cx="0" cy="109728"/>
          </a:xfrm>
          <a:prstGeom prst="line">
            <a:avLst/>
          </a:prstGeom>
          <a:noFill/>
          <a:ln w="22225">
            <a:solidFill>
              <a:srgbClr val="F4A2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1" name="L212"/>
          <p:cNvSpPr/>
          <p:nvPr/>
        </p:nvSpPr>
        <p:spPr>
          <a:xfrm>
            <a:off x="9902952" y="3200400"/>
            <a:ext cx="0" cy="109728"/>
          </a:xfrm>
          <a:prstGeom prst="line">
            <a:avLst/>
          </a:prstGeom>
          <a:noFill/>
          <a:ln w="22225">
            <a:solidFill>
              <a:srgbClr val="F4A2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3" name="S214"/>
          <p:cNvSpPr/>
          <p:nvPr/>
        </p:nvSpPr>
        <p:spPr>
          <a:xfrm>
            <a:off x="5989320" y="3310128"/>
            <a:ext cx="5678424" cy="566928"/>
          </a:xfrm>
          <a:prstGeom prst="roundRect">
            <a:avLst>
              <a:gd name="adj" fmla="val 20000"/>
            </a:avLst>
          </a:prstGeom>
          <a:solidFill>
            <a:srgbClr val="FCEBD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5" name="T216"/>
          <p:cNvSpPr/>
          <p:nvPr/>
        </p:nvSpPr>
        <p:spPr>
          <a:xfrm>
            <a:off x="6153912" y="3310128"/>
            <a:ext cx="5367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de-DE" sz="920" b="1">
                <a:solidFill>
                  <a:srgbClr val="C7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 (CRISP-DM):  </a:t>
            </a:r>
            <a:r>
              <a:rPr lang="de-DE" sz="920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Leakage in Evaluation erkannt →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de-DE" sz="920">
                <a:solidFill>
                  <a:srgbClr val="12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zurück zu Data Preparation: session-basierter GroupKFold-Split</a:t>
            </a:r>
          </a:p>
        </p:txBody>
      </p:sp>
      <p:sp>
        <p:nvSpPr>
          <p:cNvPr id="217" name="T218"/>
          <p:cNvSpPr/>
          <p:nvPr/>
        </p:nvSpPr>
        <p:spPr>
          <a:xfrm>
            <a:off x="548640" y="40233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050" b="1">
                <a:solidFill>
                  <a:srgbClr val="5E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CV-F1 (weighted) · GroupKFold k=3 · mean über 3 Folds</a:t>
            </a:r>
          </a:p>
        </p:txBody>
      </p:sp>
      <p:sp>
        <p:nvSpPr>
          <p:cNvPr id="219" name="S220"/>
          <p:cNvSpPr/>
          <p:nvPr/>
        </p:nvSpPr>
        <p:spPr>
          <a:xfrm>
            <a:off x="548640" y="4334256"/>
            <a:ext cx="5989320" cy="210312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21" name="Chart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443984"/>
            <a:ext cx="5532120" cy="1700784"/>
          </a:xfrm>
          <a:prstGeom prst="rect">
            <a:avLst/>
          </a:prstGeom>
        </p:spPr>
      </p:pic>
      <p:sp>
        <p:nvSpPr>
          <p:cNvPr id="222" name="T223"/>
          <p:cNvSpPr/>
          <p:nvPr/>
        </p:nvSpPr>
        <p:spPr>
          <a:xfrm>
            <a:off x="685800" y="4398264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sz="800" b="1">
                <a:solidFill>
                  <a:srgbClr val="C7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Sieger Gradient Boosting: 0.841 ± 0.053 (Streuung über Folds)</a:t>
            </a:r>
          </a:p>
        </p:txBody>
      </p:sp>
      <p:sp>
        <p:nvSpPr>
          <p:cNvPr id="224" name="T225"/>
          <p:cNvSpPr/>
          <p:nvPr/>
        </p:nvSpPr>
        <p:spPr>
          <a:xfrm>
            <a:off x="548640" y="6483096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de-DE" sz="72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CV-Schätzung. Test-F1 = 0.9934 bewusst nicht als Hauptmetrik: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de-DE" sz="72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nur 6 Sessions (1 je Klasse) → nicht repräsentativ.</a:t>
            </a:r>
          </a:p>
        </p:txBody>
      </p:sp>
      <p:sp>
        <p:nvSpPr>
          <p:cNvPr id="226" name="T227"/>
          <p:cNvSpPr/>
          <p:nvPr/>
        </p:nvSpPr>
        <p:spPr>
          <a:xfrm>
            <a:off x="6812280" y="40233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050" b="1">
                <a:solidFill>
                  <a:srgbClr val="5E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HERAUSFORDERUNGEN → CRISP-DM-ITERATION</a:t>
            </a:r>
          </a:p>
        </p:txBody>
      </p:sp>
      <p:sp>
        <p:nvSpPr>
          <p:cNvPr id="228" name="S229"/>
          <p:cNvSpPr/>
          <p:nvPr/>
        </p:nvSpPr>
        <p:spPr>
          <a:xfrm>
            <a:off x="6812280" y="4334256"/>
            <a:ext cx="482803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0" name="Dot231"/>
          <p:cNvSpPr/>
          <p:nvPr/>
        </p:nvSpPr>
        <p:spPr>
          <a:xfrm>
            <a:off x="6976872" y="4572000"/>
            <a:ext cx="164592" cy="164592"/>
          </a:xfrm>
          <a:prstGeom prst="ellipse">
            <a:avLst/>
          </a:prstGeom>
          <a:solidFill>
            <a:srgbClr val="E863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2" name="T233"/>
          <p:cNvSpPr/>
          <p:nvPr/>
        </p:nvSpPr>
        <p:spPr>
          <a:xfrm>
            <a:off x="7287768" y="4334256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de-DE" sz="950" b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de-DE" sz="70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Zufälliger Fensterschnitt + 50 % Overlap → CV-F1 ~0.99 (unrealistisch) → realistisch ~0.84</a:t>
            </a:r>
          </a:p>
        </p:txBody>
      </p:sp>
      <p:sp>
        <p:nvSpPr>
          <p:cNvPr id="234" name="S235"/>
          <p:cNvSpPr/>
          <p:nvPr/>
        </p:nvSpPr>
        <p:spPr>
          <a:xfrm>
            <a:off x="10268712" y="4425696"/>
            <a:ext cx="1225296" cy="457200"/>
          </a:xfrm>
          <a:prstGeom prst="roundRect">
            <a:avLst>
              <a:gd name="adj" fmla="val 50000"/>
            </a:avLst>
          </a:prstGeom>
          <a:solidFill>
            <a:srgbClr val="4FB47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6" name="T237"/>
          <p:cNvSpPr/>
          <p:nvPr/>
        </p:nvSpPr>
        <p:spPr>
          <a:xfrm>
            <a:off x="10305288" y="4425696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de-DE" sz="76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Prep:</a:t>
            </a:r>
          </a:p>
          <a:p>
            <a:pPr marL="0" indent="0" algn="ctr">
              <a:lnSpc>
                <a:spcPct val="94000"/>
              </a:lnSpc>
              <a:buNone/>
            </a:pPr>
            <a:r>
              <a:rPr lang="de-DE" sz="76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Session-Split</a:t>
            </a:r>
          </a:p>
        </p:txBody>
      </p:sp>
      <p:sp>
        <p:nvSpPr>
          <p:cNvPr id="238" name="S239"/>
          <p:cNvSpPr/>
          <p:nvPr/>
        </p:nvSpPr>
        <p:spPr>
          <a:xfrm>
            <a:off x="6812280" y="5079492"/>
            <a:ext cx="482803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0" name="Dot241"/>
          <p:cNvSpPr/>
          <p:nvPr/>
        </p:nvSpPr>
        <p:spPr>
          <a:xfrm>
            <a:off x="6976872" y="5317236"/>
            <a:ext cx="164592" cy="164592"/>
          </a:xfrm>
          <a:prstGeom prst="ellipse">
            <a:avLst/>
          </a:prstGeom>
          <a:solidFill>
            <a:srgbClr val="E863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2" name="T243"/>
          <p:cNvSpPr/>
          <p:nvPr/>
        </p:nvSpPr>
        <p:spPr>
          <a:xfrm>
            <a:off x="7287768" y="5079492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de-DE" sz="950" b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Niedrige / schlechte Datenmengen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de-DE" sz="70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 Aufnahmen, wenige Personen, Bias</a:t>
            </a:r>
          </a:p>
        </p:txBody>
      </p:sp>
      <p:sp>
        <p:nvSpPr>
          <p:cNvPr id="244" name="S245"/>
          <p:cNvSpPr/>
          <p:nvPr/>
        </p:nvSpPr>
        <p:spPr>
          <a:xfrm>
            <a:off x="10268712" y="5170932"/>
            <a:ext cx="1225296" cy="457200"/>
          </a:xfrm>
          <a:prstGeom prst="roundRect">
            <a:avLst>
              <a:gd name="adj" fmla="val 50000"/>
            </a:avLst>
          </a:prstGeom>
          <a:solidFill>
            <a:srgbClr val="4FB47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6" name="T247"/>
          <p:cNvSpPr/>
          <p:nvPr/>
        </p:nvSpPr>
        <p:spPr>
          <a:xfrm>
            <a:off x="10305288" y="5170932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de-DE" sz="76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Underst.:</a:t>
            </a:r>
          </a:p>
          <a:p>
            <a:pPr marL="0" indent="0" algn="ctr">
              <a:lnSpc>
                <a:spcPct val="94000"/>
              </a:lnSpc>
              <a:buNone/>
            </a:pPr>
            <a:r>
              <a:rPr lang="de-DE" sz="76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Daten sammeln</a:t>
            </a:r>
          </a:p>
        </p:txBody>
      </p:sp>
      <p:sp>
        <p:nvSpPr>
          <p:cNvPr id="248" name="S249"/>
          <p:cNvSpPr/>
          <p:nvPr/>
        </p:nvSpPr>
        <p:spPr>
          <a:xfrm>
            <a:off x="6812280" y="5824728"/>
            <a:ext cx="482803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0" name="Dot251"/>
          <p:cNvSpPr/>
          <p:nvPr/>
        </p:nvSpPr>
        <p:spPr>
          <a:xfrm>
            <a:off x="6976872" y="6062472"/>
            <a:ext cx="164592" cy="164592"/>
          </a:xfrm>
          <a:prstGeom prst="ellipse">
            <a:avLst/>
          </a:prstGeom>
          <a:solidFill>
            <a:srgbClr val="E863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2" name="T253"/>
          <p:cNvSpPr/>
          <p:nvPr/>
        </p:nvSpPr>
        <p:spPr>
          <a:xfrm>
            <a:off x="7287768" y="5824728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de-DE" sz="950" b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Unterscheidung Gehen / Treppen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de-DE" sz="70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Ähnliche Bewegungsmuster, schwer trennbar</a:t>
            </a:r>
          </a:p>
        </p:txBody>
      </p:sp>
      <p:sp>
        <p:nvSpPr>
          <p:cNvPr id="254" name="S255"/>
          <p:cNvSpPr/>
          <p:nvPr/>
        </p:nvSpPr>
        <p:spPr>
          <a:xfrm>
            <a:off x="10268712" y="5916168"/>
            <a:ext cx="1225296" cy="457200"/>
          </a:xfrm>
          <a:prstGeom prst="roundRect">
            <a:avLst>
              <a:gd name="adj" fmla="val 50000"/>
            </a:avLst>
          </a:prstGeom>
          <a:solidFill>
            <a:srgbClr val="4FB47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6" name="T257"/>
          <p:cNvSpPr/>
          <p:nvPr/>
        </p:nvSpPr>
        <p:spPr>
          <a:xfrm>
            <a:off x="10305288" y="591616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de-DE" sz="76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Underst.:</a:t>
            </a:r>
          </a:p>
          <a:p>
            <a:pPr marL="0" indent="0" algn="ctr">
              <a:lnSpc>
                <a:spcPct val="94000"/>
              </a:lnSpc>
              <a:buNone/>
            </a:pPr>
            <a:r>
              <a:rPr lang="de-DE" sz="76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 4 Sessions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ERGEBNISSE &amp; APP-DEMO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gut klassifiziert das Modell?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224406" cy="905256"/>
          </a:xfrm>
          <a:prstGeom prst="roundRect">
            <a:avLst>
              <a:gd name="adj" fmla="val 8475"/>
            </a:avLst>
          </a:prstGeom>
          <a:solidFill>
            <a:srgbClr val="0E2438"/>
          </a:solidFill>
          <a:ln/>
          <a:effectLst>
            <a:outerShdw blurRad="88900" dist="25400" dir="5400000" algn="bl" rotWithShape="0">
              <a:srgbClr val="0E2438">
                <a:alpha val="12000"/>
              </a:srgbClr>
            </a:outerShdw>
          </a:effectLst>
        </p:spPr>
        <p:txBody>
          <a:bodyPr/>
          <a:lstStyle/>
          <a:p>
            <a:endParaRPr lang="de-DE" sz="140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927819" cy="47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3200"/>
          </a:p>
        </p:txBody>
      </p:sp>
      <p:sp>
        <p:nvSpPr>
          <p:cNvPr id="6" name="Text 4"/>
          <p:cNvSpPr/>
          <p:nvPr/>
        </p:nvSpPr>
        <p:spPr>
          <a:xfrm>
            <a:off x="731520" y="1794153"/>
            <a:ext cx="1964892" cy="47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CV-F1</a:t>
            </a:r>
          </a:p>
        </p:txBody>
      </p:sp>
      <p:sp>
        <p:nvSpPr>
          <p:cNvPr id="13" name="Shape 11"/>
          <p:cNvSpPr/>
          <p:nvPr/>
        </p:nvSpPr>
        <p:spPr>
          <a:xfrm>
            <a:off x="5566282" y="1371600"/>
            <a:ext cx="2224406" cy="905256"/>
          </a:xfrm>
          <a:prstGeom prst="roundRect">
            <a:avLst>
              <a:gd name="adj" fmla="val 8475"/>
            </a:avLst>
          </a:prstGeom>
          <a:solidFill>
            <a:srgbClr val="F3F6F9"/>
          </a:solidFill>
          <a:ln/>
          <a:effectLst>
            <a:outerShdw blurRad="88900" dist="25400" dir="5400000" algn="bl" rotWithShape="0">
              <a:srgbClr val="0E2438">
                <a:alpha val="12000"/>
              </a:srgbClr>
            </a:outerShdw>
          </a:effectLst>
        </p:spPr>
        <p:txBody>
          <a:bodyPr/>
          <a:lstStyle/>
          <a:p>
            <a:endParaRPr lang="de-DE" sz="1400"/>
          </a:p>
        </p:txBody>
      </p:sp>
      <p:sp>
        <p:nvSpPr>
          <p:cNvPr id="14" name="Text 12"/>
          <p:cNvSpPr/>
          <p:nvPr/>
        </p:nvSpPr>
        <p:spPr>
          <a:xfrm>
            <a:off x="5749162" y="1417320"/>
            <a:ext cx="1927819" cy="47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3200"/>
          </a:p>
        </p:txBody>
      </p:sp>
      <p:sp>
        <p:nvSpPr>
          <p:cNvPr id="15" name="Text 13"/>
          <p:cNvSpPr/>
          <p:nvPr/>
        </p:nvSpPr>
        <p:spPr>
          <a:xfrm>
            <a:off x="5749162" y="1853439"/>
            <a:ext cx="1964892" cy="398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Mixed-F1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648743" y="2588988"/>
            <a:ext cx="5249125" cy="288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>
                <a:solidFill>
                  <a:srgbClr val="5E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KONFUSIONSMATRIX · Test, normalisiert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548640" y="2853083"/>
            <a:ext cx="5419024" cy="2935069"/>
          </a:xfrm>
          <a:prstGeom prst="roundRect">
            <a:avLst>
              <a:gd name="adj" fmla="val 3279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/>
          <p:nvPr/>
        </p:nvSpPr>
        <p:spPr>
          <a:xfrm>
            <a:off x="4807111" y="3844926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Diagonale = Recall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00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Hauptverwechslung: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>
                <a:solidFill>
                  <a:srgbClr val="E8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Gehen ↔ </a:t>
            </a:r>
            <a:r>
              <a:rPr lang="en-US" sz="1100" b="1" err="1">
                <a:solidFill>
                  <a:srgbClr val="E8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Treppe</a:t>
            </a:r>
            <a:endParaRPr lang="en-US" sz="1100"/>
          </a:p>
        </p:txBody>
      </p:sp>
      <p:sp>
        <p:nvSpPr>
          <p:cNvPr id="50" name="Shape 47"/>
          <p:cNvSpPr/>
          <p:nvPr/>
        </p:nvSpPr>
        <p:spPr>
          <a:xfrm>
            <a:off x="548640" y="5895345"/>
            <a:ext cx="3611880" cy="822960"/>
          </a:xfrm>
          <a:prstGeom prst="roundRect">
            <a:avLst>
              <a:gd name="adj" fmla="val 11111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1" name="Text 48"/>
          <p:cNvSpPr/>
          <p:nvPr/>
        </p:nvSpPr>
        <p:spPr>
          <a:xfrm>
            <a:off x="749808" y="596188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E6E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GroupKFold</a:t>
            </a:r>
            <a:endParaRPr lang="en-US" sz="1250"/>
          </a:p>
        </p:txBody>
      </p:sp>
      <p:sp>
        <p:nvSpPr>
          <p:cNvPr id="52" name="Text 49"/>
          <p:cNvSpPr/>
          <p:nvPr/>
        </p:nvSpPr>
        <p:spPr>
          <a:xfrm>
            <a:off x="749808" y="6236208"/>
            <a:ext cx="3209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Cross-Validation, die ganze Sessions zusammenhält. Kein Fenster liegt in Training und Test zugleich.</a:t>
            </a:r>
            <a:endParaRPr lang="en-US" sz="900"/>
          </a:p>
        </p:txBody>
      </p:sp>
      <p:sp>
        <p:nvSpPr>
          <p:cNvPr id="53" name="Shape 50"/>
          <p:cNvSpPr/>
          <p:nvPr/>
        </p:nvSpPr>
        <p:spPr>
          <a:xfrm>
            <a:off x="4379976" y="5895345"/>
            <a:ext cx="3611880" cy="822960"/>
          </a:xfrm>
          <a:prstGeom prst="roundRect">
            <a:avLst>
              <a:gd name="adj" fmla="val 11111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4" name="Text 51"/>
          <p:cNvSpPr/>
          <p:nvPr/>
        </p:nvSpPr>
        <p:spPr>
          <a:xfrm>
            <a:off x="4581144" y="596188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E6E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orie_pitch</a:t>
            </a:r>
            <a:endParaRPr lang="en-US" sz="1250"/>
          </a:p>
        </p:txBody>
      </p:sp>
      <p:sp>
        <p:nvSpPr>
          <p:cNvPr id="55" name="Text 52"/>
          <p:cNvSpPr/>
          <p:nvPr/>
        </p:nvSpPr>
        <p:spPr>
          <a:xfrm>
            <a:off x="4581144" y="6236208"/>
            <a:ext cx="3209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Neigung des Geräts (Pitch der Orientierung). Wichtigstes Merkmal zur Trennung der Aktivitäten.</a:t>
            </a:r>
            <a:endParaRPr lang="en-US" sz="90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098930D2-0204-A1DA-F9F0-54A474F5607E}"/>
              </a:ext>
            </a:extLst>
          </p:cNvPr>
          <p:cNvSpPr/>
          <p:nvPr/>
        </p:nvSpPr>
        <p:spPr>
          <a:xfrm>
            <a:off x="2842219" y="1327585"/>
            <a:ext cx="1964892" cy="398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1000" b="1" err="1">
                <a:latin typeface="Calibri" pitchFamily="34" charset="0"/>
                <a:cs typeface="Calibri" pitchFamily="34" charset="-120"/>
              </a:rPr>
              <a:t>Daten</a:t>
            </a:r>
            <a:r>
              <a:rPr lang="en-US" sz="1000" b="1"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b="1" err="1">
                <a:latin typeface="Calibri" pitchFamily="34" charset="0"/>
                <a:cs typeface="Calibri" pitchFamily="34" charset="-120"/>
              </a:rPr>
              <a:t>ohne</a:t>
            </a:r>
            <a:r>
              <a:rPr lang="en-US" sz="1000" b="1"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b="1" err="1">
                <a:latin typeface="Calibri" pitchFamily="34" charset="0"/>
                <a:cs typeface="Calibri" pitchFamily="34" charset="-120"/>
              </a:rPr>
              <a:t>Übergänge</a:t>
            </a:r>
            <a:endParaRPr lang="en-US" sz="100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85BA7C2E-C40A-D51F-9988-5A6A4A677EA1}"/>
              </a:ext>
            </a:extLst>
          </p:cNvPr>
          <p:cNvSpPr/>
          <p:nvPr/>
        </p:nvSpPr>
        <p:spPr>
          <a:xfrm>
            <a:off x="7859861" y="1316736"/>
            <a:ext cx="1964892" cy="398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1000" b="1" err="1">
                <a:latin typeface="Calibri" pitchFamily="34" charset="0"/>
                <a:cs typeface="Calibri" pitchFamily="34" charset="-120"/>
              </a:rPr>
              <a:t>Daten</a:t>
            </a:r>
            <a:r>
              <a:rPr lang="en-US" sz="1000" b="1"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b="1" err="1">
                <a:latin typeface="Calibri" pitchFamily="34" charset="0"/>
                <a:cs typeface="Calibri" pitchFamily="34" charset="-120"/>
              </a:rPr>
              <a:t>mit</a:t>
            </a:r>
            <a:r>
              <a:rPr lang="en-US" sz="1000" b="1"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b="1" err="1">
                <a:latin typeface="Calibri" pitchFamily="34" charset="0"/>
                <a:cs typeface="Calibri" pitchFamily="34" charset="-120"/>
              </a:rPr>
              <a:t>Übergänge</a:t>
            </a:r>
            <a:endParaRPr lang="en-US" sz="1000"/>
          </a:p>
        </p:txBody>
      </p:sp>
      <p:pic>
        <p:nvPicPr>
          <p:cNvPr id="49" name="Grafik 48">
            <a:extLst>
              <a:ext uri="{FF2B5EF4-FFF2-40B4-BE49-F238E27FC236}">
                <a16:creationId xmlns:a16="http://schemas.microsoft.com/office/drawing/2014/main" id="{B57F18B1-5332-D250-A828-75D8133A32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594" t="5888"/>
          <a:stretch>
            <a:fillRect/>
          </a:stretch>
        </p:blipFill>
        <p:spPr>
          <a:xfrm>
            <a:off x="648744" y="2950256"/>
            <a:ext cx="3807754" cy="27858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0E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ERKENNTNISSE &amp; AUSBLICK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Erkenntnisse und Ausblick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30168" cy="1298448"/>
          </a:xfrm>
          <a:prstGeom prst="roundRect">
            <a:avLst>
              <a:gd name="adj" fmla="val 7042"/>
            </a:avLst>
          </a:prstGeom>
          <a:solidFill>
            <a:srgbClr val="15324C"/>
          </a:solidFill>
          <a:ln/>
          <a:effectLst>
            <a:outerShdw blurRad="114300" dist="38100" dir="5400000" algn="bl" rotWithShape="0">
              <a:srgbClr val="0E2438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1901952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Session-basierter Split nötig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>
                <a:solidFill>
                  <a:srgbClr val="9F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Zufalls-Split erzeugte CV-F1 ~0.99 durch Fenster-Überlappung (Data Leakage).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4379976" y="1371600"/>
            <a:ext cx="3630168" cy="1298448"/>
          </a:xfrm>
          <a:prstGeom prst="roundRect">
            <a:avLst>
              <a:gd name="adj" fmla="val 7042"/>
            </a:avLst>
          </a:prstGeom>
          <a:solidFill>
            <a:srgbClr val="15324C"/>
          </a:solidFill>
          <a:ln/>
          <a:effectLst>
            <a:outerShdw blurRad="114300" dist="38100" dir="5400000" algn="bl" rotWithShape="0">
              <a:srgbClr val="0E2438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608576" y="14813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/>
          </a:p>
        </p:txBody>
      </p:sp>
      <p:sp>
        <p:nvSpPr>
          <p:cNvPr id="10" name="Text 8"/>
          <p:cNvSpPr/>
          <p:nvPr/>
        </p:nvSpPr>
        <p:spPr>
          <a:xfrm>
            <a:off x="4608576" y="1901952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Orientierungs-Features dominieren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4608576" y="219456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err="1">
                <a:solidFill>
                  <a:srgbClr val="9F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orie_pitch</a:t>
            </a:r>
            <a:r>
              <a:rPr lang="en-US" sz="1000">
                <a:solidFill>
                  <a:srgbClr val="9F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err="1">
                <a:solidFill>
                  <a:srgbClr val="9F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1000">
                <a:solidFill>
                  <a:srgbClr val="9F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err="1">
                <a:solidFill>
                  <a:srgbClr val="9F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höchster</a:t>
            </a:r>
            <a:r>
              <a:rPr lang="en-US" sz="1000">
                <a:solidFill>
                  <a:srgbClr val="9F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Feature-Importance, daher positionsabhängig.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8211312" y="1371600"/>
            <a:ext cx="3630168" cy="1298448"/>
          </a:xfrm>
          <a:prstGeom prst="roundRect">
            <a:avLst>
              <a:gd name="adj" fmla="val 7042"/>
            </a:avLst>
          </a:prstGeom>
          <a:solidFill>
            <a:srgbClr val="15324C"/>
          </a:solidFill>
          <a:ln/>
          <a:effectLst>
            <a:outerShdw blurRad="114300" dist="38100" dir="5400000" algn="bl" rotWithShape="0">
              <a:srgbClr val="0E2438">
                <a:alpha val="2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8439912" y="14813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/>
          </a:p>
        </p:txBody>
      </p:sp>
      <p:sp>
        <p:nvSpPr>
          <p:cNvPr id="14" name="Text 12"/>
          <p:cNvSpPr/>
          <p:nvPr/>
        </p:nvSpPr>
        <p:spPr>
          <a:xfrm>
            <a:off x="8439912" y="1901952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!= </a:t>
            </a:r>
            <a:r>
              <a:rPr lang="en-US" sz="13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Realität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8439912" y="219456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>
                <a:solidFill>
                  <a:srgbClr val="9F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Test-F1 0.99 → Mixed-F1 0.87 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LIMITIERUNGEN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2497455" cy="493776"/>
          </a:xfrm>
          <a:prstGeom prst="roundRect">
            <a:avLst>
              <a:gd name="adj" fmla="val 18519"/>
            </a:avLst>
          </a:prstGeom>
          <a:solidFill>
            <a:srgbClr val="1532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31520" y="3291840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Personenbias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2122170" y="341071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863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2122170" y="33924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E24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HOCH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548640" y="3858768"/>
            <a:ext cx="2497455" cy="493776"/>
          </a:xfrm>
          <a:prstGeom prst="roundRect">
            <a:avLst>
              <a:gd name="adj" fmla="val 18519"/>
            </a:avLst>
          </a:prstGeom>
          <a:solidFill>
            <a:srgbClr val="1532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731520" y="3858768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Positionsbias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2122170" y="397764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863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2122170" y="39593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E24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HOCH</a:t>
            </a:r>
            <a:endParaRPr lang="en-US" sz="850"/>
          </a:p>
        </p:txBody>
      </p:sp>
      <p:sp>
        <p:nvSpPr>
          <p:cNvPr id="27" name="Shape 25"/>
          <p:cNvSpPr/>
          <p:nvPr/>
        </p:nvSpPr>
        <p:spPr>
          <a:xfrm>
            <a:off x="548640" y="4425696"/>
            <a:ext cx="2497455" cy="493776"/>
          </a:xfrm>
          <a:prstGeom prst="roundRect">
            <a:avLst>
              <a:gd name="adj" fmla="val 18519"/>
            </a:avLst>
          </a:prstGeom>
          <a:solidFill>
            <a:srgbClr val="1532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731520" y="4425696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Klassenungleichgew.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2122170" y="454456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4A23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2122170" y="45262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E24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MITTEL</a:t>
            </a:r>
            <a:endParaRPr lang="en-US" sz="850"/>
          </a:p>
        </p:txBody>
      </p:sp>
      <p:sp>
        <p:nvSpPr>
          <p:cNvPr id="32" name="Shape 30"/>
          <p:cNvSpPr/>
          <p:nvPr/>
        </p:nvSpPr>
        <p:spPr>
          <a:xfrm>
            <a:off x="548640" y="4992624"/>
            <a:ext cx="2497455" cy="493776"/>
          </a:xfrm>
          <a:prstGeom prst="roundRect">
            <a:avLst>
              <a:gd name="adj" fmla="val 18519"/>
            </a:avLst>
          </a:prstGeom>
          <a:solidFill>
            <a:srgbClr val="1532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731520" y="4992624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 / Sampling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>
          <a:xfrm>
            <a:off x="2122170" y="511149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4A23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2122170" y="50932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E24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MITTEL</a:t>
            </a:r>
            <a:endParaRPr lang="en-US" sz="850"/>
          </a:p>
        </p:txBody>
      </p:sp>
      <p:sp>
        <p:nvSpPr>
          <p:cNvPr id="37" name="Text 35"/>
          <p:cNvSpPr/>
          <p:nvPr/>
        </p:nvSpPr>
        <p:spPr>
          <a:xfrm>
            <a:off x="4178808" y="2926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err="1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Konfusionsmatrix</a:t>
            </a:r>
            <a:r>
              <a:rPr lang="en-US" sz="1150" b="1" kern="0" spc="100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der </a:t>
            </a:r>
            <a:r>
              <a:rPr lang="en-US" sz="1150" b="1" kern="0" spc="100" err="1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Daten</a:t>
            </a:r>
            <a:r>
              <a:rPr lang="en-US" sz="1150" b="1" kern="0" spc="100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b="1" kern="0" spc="100" err="1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</a:t>
            </a:r>
            <a:r>
              <a:rPr lang="en-US" sz="1150" b="1" kern="0" spc="100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b="1" kern="0" spc="100" err="1">
                <a:solidFill>
                  <a:srgbClr val="1FB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Übergängen</a:t>
            </a:r>
            <a:endParaRPr lang="en-US" sz="1150"/>
          </a:p>
        </p:txBody>
      </p:sp>
      <p:sp>
        <p:nvSpPr>
          <p:cNvPr id="38" name="Shape 36"/>
          <p:cNvSpPr/>
          <p:nvPr/>
        </p:nvSpPr>
        <p:spPr>
          <a:xfrm>
            <a:off x="4002405" y="3344658"/>
            <a:ext cx="5143500" cy="2169695"/>
          </a:xfrm>
          <a:prstGeom prst="roundRect">
            <a:avLst>
              <a:gd name="adj" fmla="val 4237"/>
            </a:avLst>
          </a:prstGeom>
          <a:solidFill>
            <a:srgbClr val="1532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0" name="Text 37"/>
          <p:cNvSpPr/>
          <p:nvPr/>
        </p:nvSpPr>
        <p:spPr>
          <a:xfrm>
            <a:off x="548640" y="5650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5E71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AUSBLICK</a:t>
            </a:r>
            <a:endParaRPr lang="en-US" sz="1100"/>
          </a:p>
        </p:txBody>
      </p:sp>
      <p:sp>
        <p:nvSpPr>
          <p:cNvPr id="41" name="Shape 38"/>
          <p:cNvSpPr/>
          <p:nvPr/>
        </p:nvSpPr>
        <p:spPr>
          <a:xfrm>
            <a:off x="1874520" y="5605272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1E445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2" name="Text 39"/>
          <p:cNvSpPr/>
          <p:nvPr/>
        </p:nvSpPr>
        <p:spPr>
          <a:xfrm>
            <a:off x="1874520" y="558698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 Probanden</a:t>
            </a:r>
            <a:endParaRPr lang="en-US" sz="1050"/>
          </a:p>
        </p:txBody>
      </p:sp>
      <p:sp>
        <p:nvSpPr>
          <p:cNvPr id="43" name="Shape 40"/>
          <p:cNvSpPr/>
          <p:nvPr/>
        </p:nvSpPr>
        <p:spPr>
          <a:xfrm>
            <a:off x="3913632" y="5605272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1E445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4" name="Text 41"/>
          <p:cNvSpPr/>
          <p:nvPr/>
        </p:nvSpPr>
        <p:spPr>
          <a:xfrm>
            <a:off x="3913632" y="55869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Trageweise-Varianz</a:t>
            </a:r>
            <a:endParaRPr lang="en-US" sz="1050"/>
          </a:p>
        </p:txBody>
      </p:sp>
      <p:sp>
        <p:nvSpPr>
          <p:cNvPr id="45" name="Shape 42"/>
          <p:cNvSpPr/>
          <p:nvPr/>
        </p:nvSpPr>
        <p:spPr>
          <a:xfrm>
            <a:off x="6409944" y="5605272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1E445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6" name="Text 43"/>
          <p:cNvSpPr/>
          <p:nvPr/>
        </p:nvSpPr>
        <p:spPr>
          <a:xfrm>
            <a:off x="6409944" y="55869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LSTM-Vergleich</a:t>
            </a:r>
            <a:endParaRPr lang="en-US" sz="1050"/>
          </a:p>
        </p:txBody>
      </p:sp>
      <p:sp>
        <p:nvSpPr>
          <p:cNvPr id="47" name="Shape 44"/>
          <p:cNvSpPr/>
          <p:nvPr/>
        </p:nvSpPr>
        <p:spPr>
          <a:xfrm>
            <a:off x="9180576" y="5605272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1E445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8" name="Text 45"/>
          <p:cNvSpPr/>
          <p:nvPr/>
        </p:nvSpPr>
        <p:spPr>
          <a:xfrm>
            <a:off x="9180576" y="558698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SHAP-Reduktion</a:t>
            </a:r>
            <a:endParaRPr lang="en-US" sz="1050"/>
          </a:p>
        </p:txBody>
      </p:sp>
      <p:sp>
        <p:nvSpPr>
          <p:cNvPr id="49" name="Text 46"/>
          <p:cNvSpPr/>
          <p:nvPr/>
        </p:nvSpPr>
        <p:spPr>
          <a:xfrm>
            <a:off x="548640" y="61996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9FB4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Related Work:  </a:t>
            </a:r>
            <a:r>
              <a:rPr lang="en-US" sz="1000">
                <a:solidFill>
                  <a:srgbClr val="9FB4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Anguita 2013 (SVM · Pocket)   ·   Bayat 2014 (Ensemble 91 %)   ·   Balli 2019 (Random Forest · 2 s)</a:t>
            </a:r>
            <a:endParaRPr lang="en-US" sz="1000"/>
          </a:p>
        </p:txBody>
      </p:sp>
      <p:pic>
        <p:nvPicPr>
          <p:cNvPr id="52" name="Grafik 51">
            <a:extLst>
              <a:ext uri="{FF2B5EF4-FFF2-40B4-BE49-F238E27FC236}">
                <a16:creationId xmlns:a16="http://schemas.microsoft.com/office/drawing/2014/main" id="{5D591469-E456-0240-F805-E497852FB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137" y="3417332"/>
            <a:ext cx="5001768" cy="19710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08872F-E6DF-4E7C-8992-74E2EC2198C9}">
  <we:reference id="WA200010001" version="1.0.0.1" store="de-de" storeType="omex"/>
  <we:alternateReferences>
    <we:reference id="WA200010001" version="1.0.0.1" store="de-de" storeType="omex"/>
  </we:alternateReferences>
  <we:properties>
    <we:property name="claude.fileId" value="&quot;580132c6-1991-4d6d-9b60-09f25c83067a&quot;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43C504497881241810EB656ACB4B12C" ma:contentTypeVersion="3" ma:contentTypeDescription="Ein neues Dokument erstellen." ma:contentTypeScope="" ma:versionID="dfb755d0d49e529ebe62fb75f6a9cebf">
  <xsd:schema xmlns:xsd="http://www.w3.org/2001/XMLSchema" xmlns:xs="http://www.w3.org/2001/XMLSchema" xmlns:p="http://schemas.microsoft.com/office/2006/metadata/properties" xmlns:ns2="4ef91822-f8c4-40bb-90c9-40dcf9808e3a" targetNamespace="http://schemas.microsoft.com/office/2006/metadata/properties" ma:root="true" ma:fieldsID="d5bbc34f3e6fde2f3743694db1bc9158" ns2:_="">
    <xsd:import namespace="4ef91822-f8c4-40bb-90c9-40dcf9808e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f91822-f8c4-40bb-90c9-40dcf9808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6E75120-A1AF-4976-A69C-3737F6BE0BA8}">
  <ds:schemaRefs>
    <ds:schemaRef ds:uri="4ef91822-f8c4-40bb-90c9-40dcf9808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3C907A5-3110-487E-928E-F31637A416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B4D67E-6FE7-4328-9940-5BBC169F93BC}">
  <ds:schemaRefs>
    <ds:schemaRef ds:uri="4ef91822-f8c4-40bb-90c9-40dcf9808e3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Breitbild</PresentationFormat>
  <Slides>13</Slides>
  <Notes>8</Notes>
  <HiddenSlides>7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4" baseType="lpstr"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Bewegungsklassifikation aus Smartphone-Sensordaten</dc:title>
  <dc:subject>PptxGenJS Presentation</dc:subject>
  <dc:creator>Gruppe NoNames</dc:creator>
  <cp:revision>4</cp:revision>
  <dcterms:created xsi:type="dcterms:W3CDTF">2026-06-22T07:01:56Z</dcterms:created>
  <dcterms:modified xsi:type="dcterms:W3CDTF">2026-06-25T12:01:23Z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0x010100D43C504497881241810EB656ACB4B12C</vt:lpwstr>
  </property>
</Properties>
</file>